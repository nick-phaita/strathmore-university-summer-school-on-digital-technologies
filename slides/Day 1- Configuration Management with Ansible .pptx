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1" r:id="rId1"/>
  </p:sldMasterIdLst>
  <p:notesMasterIdLst>
    <p:notesMasterId r:id="rId26"/>
  </p:notesMasterIdLst>
  <p:sldIdLst>
    <p:sldId id="256" r:id="rId2"/>
    <p:sldId id="257" r:id="rId3"/>
    <p:sldId id="282" r:id="rId4"/>
    <p:sldId id="258" r:id="rId5"/>
    <p:sldId id="259" r:id="rId6"/>
    <p:sldId id="261" r:id="rId7"/>
    <p:sldId id="262" r:id="rId8"/>
    <p:sldId id="263" r:id="rId9"/>
    <p:sldId id="266" r:id="rId10"/>
    <p:sldId id="271" r:id="rId11"/>
    <p:sldId id="268" r:id="rId12"/>
    <p:sldId id="265" r:id="rId13"/>
    <p:sldId id="269" r:id="rId14"/>
    <p:sldId id="270" r:id="rId15"/>
    <p:sldId id="283" r:id="rId16"/>
    <p:sldId id="284" r:id="rId17"/>
    <p:sldId id="285" r:id="rId18"/>
    <p:sldId id="286" r:id="rId19"/>
    <p:sldId id="287" r:id="rId20"/>
    <p:sldId id="264" r:id="rId21"/>
    <p:sldId id="279" r:id="rId22"/>
    <p:sldId id="280" r:id="rId23"/>
    <p:sldId id="272" r:id="rId24"/>
    <p:sldId id="288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94"/>
  </p:normalViewPr>
  <p:slideViewPr>
    <p:cSldViewPr snapToGrid="0">
      <p:cViewPr varScale="1">
        <p:scale>
          <a:sx n="121" d="100"/>
          <a:sy n="121" d="100"/>
        </p:scale>
        <p:origin x="39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2E537D-542E-8B4A-A4A2-C48CBF3520B1}" type="datetimeFigureOut">
              <a:rPr lang="en-KE" smtClean="0"/>
              <a:t>22/03/2026</a:t>
            </a:fld>
            <a:endParaRPr lang="en-K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K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C1E0F-D6EA-9846-8BCE-7AD8FE019450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2796996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6632989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475327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769104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890463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087594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618469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158199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59798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2091715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516822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4084380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32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D9D35B-E317-AE48-8FC4-E227E3779575}" type="datetimeFigureOut">
              <a:rPr lang="en-KE" smtClean="0"/>
              <a:t>21/03/2026</a:t>
            </a:fld>
            <a:endParaRPr lang="en-K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K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F8D007-EFD7-C441-9237-F1667B08F146}" type="slidenum">
              <a:rPr lang="en-KE" smtClean="0"/>
              <a:t>‹#›</a:t>
            </a:fld>
            <a:endParaRPr lang="en-KE"/>
          </a:p>
        </p:txBody>
      </p:sp>
    </p:spTree>
    <p:extLst>
      <p:ext uri="{BB962C8B-B14F-4D97-AF65-F5344CB8AC3E}">
        <p14:creationId xmlns:p14="http://schemas.microsoft.com/office/powerpoint/2010/main" val="3962955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mpreyDev/Strathmore-University-Summer-School-on-Digital-Technologies/tree/main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HumpreyDev/Strathmore-University-Summer-School-on-Digital-Technologies/tree/main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mpreyDev/Strathmore-University-Summer-School-on-Digital-Technologies/tree/main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mpreyDev/Strathmore-University-Summer-School-on-Digital-Technologies/tree/main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HumpreyDev/Strathmore-University-Summer-School-on-Digital-Technologies/tree/main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HumpreyDev/Strathmore-University-Summer-School-on-Digital-Technologies/tree/main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B3A3D-8DBD-205D-73B5-5FBD85802D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71752" y="589456"/>
            <a:ext cx="9144000" cy="2387600"/>
          </a:xfrm>
        </p:spPr>
        <p:txBody>
          <a:bodyPr/>
          <a:lstStyle/>
          <a:p>
            <a:r>
              <a:rPr lang="en-GB" b="1" dirty="0" err="1">
                <a:latin typeface="+mn-lt"/>
              </a:rPr>
              <a:t>DIGITAfrica</a:t>
            </a:r>
            <a:r>
              <a:rPr lang="en-GB" b="1" dirty="0">
                <a:latin typeface="+mn-lt"/>
              </a:rPr>
              <a:t>: Summer School on Digital Technologies </a:t>
            </a:r>
            <a:endParaRPr lang="en-KE" b="1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4109FE-A014-B449-F41E-C87B6D43F0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207" y="3602037"/>
            <a:ext cx="11634952" cy="1726707"/>
          </a:xfrm>
        </p:spPr>
        <p:txBody>
          <a:bodyPr>
            <a:normAutofit/>
          </a:bodyPr>
          <a:lstStyle/>
          <a:p>
            <a:r>
              <a:rPr lang="en-GB" sz="4400" b="1" dirty="0"/>
              <a:t>Configuration and System Management with Ansible</a:t>
            </a:r>
            <a:endParaRPr lang="en-GB" sz="4400" dirty="0"/>
          </a:p>
          <a:p>
            <a:endParaRPr lang="en-KE" sz="4400" dirty="0"/>
          </a:p>
        </p:txBody>
      </p:sp>
    </p:spTree>
    <p:extLst>
      <p:ext uri="{BB962C8B-B14F-4D97-AF65-F5344CB8AC3E}">
        <p14:creationId xmlns:p14="http://schemas.microsoft.com/office/powerpoint/2010/main" val="4220459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14E3D-FABA-C2E2-EF7D-58B4D76C6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193" y="123387"/>
            <a:ext cx="10649607" cy="864585"/>
          </a:xfrm>
        </p:spPr>
        <p:txBody>
          <a:bodyPr/>
          <a:lstStyle/>
          <a:p>
            <a:r>
              <a:rPr lang="en-KE" b="1" dirty="0">
                <a:latin typeface="+mn-lt"/>
              </a:rPr>
              <a:t>Ansible Intro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B7FDD-E100-BF09-376E-3495DE8AFE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352" y="1110922"/>
            <a:ext cx="10754710" cy="4732830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Ansible is described as a configuration management tool. </a:t>
            </a:r>
          </a:p>
          <a:p>
            <a:r>
              <a:rPr lang="en-GB" dirty="0"/>
              <a:t>Config management means  writing some kind of state description that ensures servers are in the desired state where: the right packages are installed, configuration files have the expected values and have the expected permissions, and the right services are running</a:t>
            </a:r>
          </a:p>
          <a:p>
            <a:r>
              <a:rPr lang="en-KE" dirty="0"/>
              <a:t>Deployment means </a:t>
            </a:r>
            <a:r>
              <a:rPr lang="en-GB" dirty="0"/>
              <a:t>generating binaries or static assets from source code, copying the required files to servers, configuring properties and environment variables, and starting services in the correct order.</a:t>
            </a:r>
          </a:p>
          <a:p>
            <a:r>
              <a:rPr lang="en-GB" dirty="0"/>
              <a:t>Orchestration, on the other hand, is the process of coordinating deployment when multiple remote servers are involved, and things must happen in a specific order</a:t>
            </a:r>
          </a:p>
          <a:p>
            <a:r>
              <a:rPr lang="en-GB" dirty="0"/>
              <a:t>Looking at this- Ansible can do both configuration management  and </a:t>
            </a:r>
            <a:r>
              <a:rPr lang="en-KE" dirty="0"/>
              <a:t>Deployment and </a:t>
            </a:r>
            <a:r>
              <a:rPr lang="en-GB" dirty="0"/>
              <a:t>orchestration</a:t>
            </a:r>
            <a:r>
              <a:rPr lang="en-KE" dirty="0"/>
              <a:t> of services </a:t>
            </a:r>
          </a:p>
        </p:txBody>
      </p:sp>
    </p:spTree>
    <p:extLst>
      <p:ext uri="{BB962C8B-B14F-4D97-AF65-F5344CB8AC3E}">
        <p14:creationId xmlns:p14="http://schemas.microsoft.com/office/powerpoint/2010/main" val="60779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35962-7E52-4CEE-0B80-8DCD0660A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69" y="231229"/>
            <a:ext cx="11080531" cy="1459460"/>
          </a:xfrm>
        </p:spPr>
        <p:txBody>
          <a:bodyPr/>
          <a:lstStyle/>
          <a:p>
            <a:r>
              <a:rPr lang="en-US" b="1" dirty="0">
                <a:latin typeface="+mn-lt"/>
                <a:ea typeface="Trebuchet MS" pitchFamily="34" charset="-122"/>
                <a:cs typeface="Trebuchet MS" pitchFamily="34" charset="-120"/>
              </a:rPr>
              <a:t>Why Ansible?</a:t>
            </a:r>
            <a:br>
              <a:rPr lang="en-US" dirty="0">
                <a:latin typeface="+mn-lt"/>
              </a:rPr>
            </a:br>
            <a:endParaRPr lang="en-KE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39B440-58E9-AFCF-E9C8-D3ED40F191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269" y="1271752"/>
            <a:ext cx="11080531" cy="4905211"/>
          </a:xfrm>
        </p:spPr>
        <p:txBody>
          <a:bodyPr>
            <a:normAutofit/>
          </a:bodyPr>
          <a:lstStyle/>
          <a:p>
            <a:r>
              <a:rPr lang="en-US" i="1" dirty="0">
                <a:ea typeface="Calibri" pitchFamily="34" charset="-122"/>
                <a:cs typeface="Calibri" pitchFamily="34" charset="-120"/>
              </a:rPr>
              <a:t>Ansible is an open-source IT automation tool that lets you describe your infrastructure as code — and apply it repeatedly, reliably, and safely.</a:t>
            </a:r>
          </a:p>
          <a:p>
            <a:r>
              <a:rPr lang="en-US" b="1" dirty="0">
                <a:ea typeface="Trebuchet MS" pitchFamily="34" charset="-122"/>
                <a:cs typeface="Trebuchet MS" pitchFamily="34" charset="-120"/>
              </a:rPr>
              <a:t>Agentless- 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No software needed on target machines — uses SSH to communicate.</a:t>
            </a:r>
          </a:p>
          <a:p>
            <a:r>
              <a:rPr lang="en-US" b="1" dirty="0">
                <a:ea typeface="Trebuchet MS" pitchFamily="34" charset="-122"/>
                <a:cs typeface="Trebuchet MS" pitchFamily="34" charset="-120"/>
              </a:rPr>
              <a:t>Human-Readable- 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Written in YAML — easy to read, write, and review as a team.</a:t>
            </a:r>
            <a:endParaRPr lang="en-US" dirty="0"/>
          </a:p>
          <a:p>
            <a:r>
              <a:rPr lang="en-US" b="1" dirty="0">
                <a:ea typeface="Trebuchet MS" pitchFamily="34" charset="-122"/>
                <a:cs typeface="Trebuchet MS" pitchFamily="34" charset="-120"/>
              </a:rPr>
              <a:t>Idempotent -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Running a playbook multiple times produces the same result safely.</a:t>
            </a:r>
          </a:p>
          <a:p>
            <a:r>
              <a:rPr lang="en-US" b="1" dirty="0">
                <a:ea typeface="Trebuchet MS" pitchFamily="34" charset="-122"/>
                <a:cs typeface="Trebuchet MS" pitchFamily="34" charset="-120"/>
              </a:rPr>
              <a:t>Modular -</a:t>
            </a:r>
            <a:r>
              <a:rPr lang="en-US" dirty="0">
                <a:ea typeface="Calibri" pitchFamily="34" charset="-122"/>
                <a:cs typeface="Calibri" pitchFamily="34" charset="-120"/>
              </a:rPr>
              <a:t>Built-in modules handle everything: packages, files, services, cloud.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9663225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43A5C-F39F-4579-1636-D9C94347F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235" y="72313"/>
            <a:ext cx="10515600" cy="1325563"/>
          </a:xfrm>
        </p:spPr>
        <p:txBody>
          <a:bodyPr/>
          <a:lstStyle/>
          <a:p>
            <a:r>
              <a:rPr lang="en-KE" b="1" dirty="0">
                <a:latin typeface="+mn-lt"/>
              </a:rPr>
              <a:t>H</a:t>
            </a:r>
            <a:r>
              <a:rPr lang="en-GB" b="1" dirty="0">
                <a:latin typeface="+mn-lt"/>
              </a:rPr>
              <a:t>o</a:t>
            </a:r>
            <a:r>
              <a:rPr lang="en-KE" b="1" dirty="0">
                <a:latin typeface="+mn-lt"/>
              </a:rPr>
              <a:t>w Ansible Works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D4E56-A678-4FBC-40EC-73FB78116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779" y="1210819"/>
            <a:ext cx="11070021" cy="4779087"/>
          </a:xfrm>
        </p:spPr>
        <p:txBody>
          <a:bodyPr/>
          <a:lstStyle/>
          <a:p>
            <a:r>
              <a:rPr lang="en-KE" dirty="0"/>
              <a:t>Ansible connects to remote host(s) via SSH and executes </a:t>
            </a:r>
            <a:r>
              <a:rPr lang="en-GB" dirty="0"/>
              <a:t>configuration, deployment, and orchestration management instructions (tasks) using a script called an Ansible playbook. </a:t>
            </a:r>
          </a:p>
          <a:p>
            <a:r>
              <a:rPr lang="en-GB" dirty="0"/>
              <a:t>The interaction is usually an Ansible Control Host and Managed host(s) </a:t>
            </a:r>
          </a:p>
          <a:p>
            <a:endParaRPr lang="en-K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0F9E198-2ED7-1696-0387-41B64C301D56}"/>
              </a:ext>
            </a:extLst>
          </p:cNvPr>
          <p:cNvSpPr/>
          <p:nvPr/>
        </p:nvSpPr>
        <p:spPr>
          <a:xfrm>
            <a:off x="2740572" y="4648336"/>
            <a:ext cx="1902372" cy="920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Ansible Control Node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BE6AEE-C575-333C-C1BC-F83968C0FE30}"/>
              </a:ext>
            </a:extLst>
          </p:cNvPr>
          <p:cNvSpPr/>
          <p:nvPr/>
        </p:nvSpPr>
        <p:spPr>
          <a:xfrm>
            <a:off x="6096000" y="3327153"/>
            <a:ext cx="1902372" cy="920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Managed Host 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97FA296-54CE-4DDE-97B6-EB56A29D9A3C}"/>
              </a:ext>
            </a:extLst>
          </p:cNvPr>
          <p:cNvSpPr/>
          <p:nvPr/>
        </p:nvSpPr>
        <p:spPr>
          <a:xfrm>
            <a:off x="6096000" y="4648337"/>
            <a:ext cx="1902372" cy="920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Managed Host 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695094-6912-8602-A24A-8A00D0FE9CF6}"/>
              </a:ext>
            </a:extLst>
          </p:cNvPr>
          <p:cNvSpPr/>
          <p:nvPr/>
        </p:nvSpPr>
        <p:spPr>
          <a:xfrm>
            <a:off x="6097314" y="5760806"/>
            <a:ext cx="1902372" cy="92053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KE" dirty="0"/>
              <a:t>Managed Host 3 …n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E98983E-E11C-E930-766C-909BA1ABE911}"/>
              </a:ext>
            </a:extLst>
          </p:cNvPr>
          <p:cNvCxnSpPr>
            <a:stCxn id="4" idx="3"/>
            <a:endCxn id="5" idx="1"/>
          </p:cNvCxnSpPr>
          <p:nvPr/>
        </p:nvCxnSpPr>
        <p:spPr>
          <a:xfrm flipV="1">
            <a:off x="4642944" y="3787419"/>
            <a:ext cx="1453056" cy="13211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398929F-D89E-D778-DAA1-08EB22279D6C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4642944" y="5108602"/>
            <a:ext cx="1453056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9506702-ECEB-2929-E4D4-6579834F36AD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4642944" y="5108602"/>
            <a:ext cx="1454370" cy="111247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182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8DECA-0B60-38CF-365B-B1D2BB0A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8304"/>
            <a:ext cx="10515600" cy="1325563"/>
          </a:xfrm>
        </p:spPr>
        <p:txBody>
          <a:bodyPr/>
          <a:lstStyle/>
          <a:p>
            <a:r>
              <a:rPr lang="en-KE" b="1" dirty="0">
                <a:latin typeface="+mn-lt"/>
              </a:rPr>
              <a:t>H</a:t>
            </a:r>
            <a:r>
              <a:rPr lang="en-GB" b="1" dirty="0">
                <a:latin typeface="+mn-lt"/>
              </a:rPr>
              <a:t>o</a:t>
            </a:r>
            <a:r>
              <a:rPr lang="en-KE" b="1" dirty="0">
                <a:latin typeface="+mn-lt"/>
              </a:rPr>
              <a:t>w Ansible Works. Example Task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549477F-A142-B887-D554-EAC1705D05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11836" y="1385888"/>
            <a:ext cx="4127500" cy="13716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A828EEB-0E71-A7B5-1D9D-16DF78D30D6F}"/>
              </a:ext>
            </a:extLst>
          </p:cNvPr>
          <p:cNvSpPr txBox="1"/>
          <p:nvPr/>
        </p:nvSpPr>
        <p:spPr>
          <a:xfrm>
            <a:off x="567559" y="2942896"/>
            <a:ext cx="1107790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dirty="0"/>
              <a:t>Ansible will do the following:</a:t>
            </a:r>
          </a:p>
          <a:p>
            <a:r>
              <a:rPr lang="en-GB" sz="3200" dirty="0"/>
              <a:t>1. Generate a Python script that installs the NGINX package</a:t>
            </a:r>
          </a:p>
          <a:p>
            <a:r>
              <a:rPr lang="en-GB" sz="3200" dirty="0"/>
              <a:t>2. Copy the script to host 1, host 2, host 3 …. Host n</a:t>
            </a:r>
          </a:p>
          <a:p>
            <a:r>
              <a:rPr lang="en-GB" sz="3200" dirty="0"/>
              <a:t>3. Execute the script on host 1, host 2, host 3 …. Host n</a:t>
            </a:r>
          </a:p>
          <a:p>
            <a:r>
              <a:rPr lang="en-GB" sz="3200" dirty="0"/>
              <a:t>4. Wait for the script to complete execution on all hosts</a:t>
            </a:r>
            <a:endParaRPr lang="en-KE" sz="3200" dirty="0"/>
          </a:p>
        </p:txBody>
      </p:sp>
    </p:spTree>
    <p:extLst>
      <p:ext uri="{BB962C8B-B14F-4D97-AF65-F5344CB8AC3E}">
        <p14:creationId xmlns:p14="http://schemas.microsoft.com/office/powerpoint/2010/main" val="546884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D7AAE-8DCA-A379-3AED-B61E50500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41" y="365125"/>
            <a:ext cx="11006959" cy="1325563"/>
          </a:xfrm>
        </p:spPr>
        <p:txBody>
          <a:bodyPr/>
          <a:lstStyle/>
          <a:p>
            <a:r>
              <a:rPr lang="en-KE" b="1" dirty="0">
                <a:latin typeface="+mn-lt"/>
              </a:rPr>
              <a:t>Up and Running with Ansible: What you need to 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59515-157D-FC14-AFED-4180C6D4A9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841" y="1818290"/>
            <a:ext cx="11006959" cy="4358673"/>
          </a:xfrm>
        </p:spPr>
        <p:txBody>
          <a:bodyPr>
            <a:normAutofit fontScale="92500" lnSpcReduction="20000"/>
          </a:bodyPr>
          <a:lstStyle/>
          <a:p>
            <a:r>
              <a:rPr lang="en-KE" dirty="0"/>
              <a:t>Ansible is agentless- </a:t>
            </a:r>
            <a:r>
              <a:rPr lang="en-GB" dirty="0"/>
              <a:t>it does</a:t>
            </a:r>
            <a:r>
              <a:rPr lang="en-KE" dirty="0"/>
              <a:t> not need an agent on the target host to work </a:t>
            </a:r>
          </a:p>
          <a:p>
            <a:r>
              <a:rPr lang="en-KE" dirty="0"/>
              <a:t>Ansible is </a:t>
            </a:r>
            <a:r>
              <a:rPr lang="en-GB" dirty="0"/>
              <a:t>written</a:t>
            </a:r>
            <a:r>
              <a:rPr lang="en-KE" dirty="0"/>
              <a:t> in python so it only </a:t>
            </a:r>
            <a:r>
              <a:rPr lang="en-GB" dirty="0"/>
              <a:t>expects that the Linux/macOS/BSD systems have Python installed</a:t>
            </a:r>
          </a:p>
          <a:p>
            <a:r>
              <a:rPr lang="en-GB" dirty="0"/>
              <a:t>You need to have SSH access and root privileges on the managed host(s)</a:t>
            </a:r>
          </a:p>
          <a:p>
            <a:r>
              <a:rPr lang="en-GB" dirty="0"/>
              <a:t>You only need to install Ansible on the </a:t>
            </a:r>
            <a:r>
              <a:rPr lang="en-KE" dirty="0"/>
              <a:t>Ansible Control Host</a:t>
            </a:r>
          </a:p>
          <a:p>
            <a:r>
              <a:rPr lang="en-GB" dirty="0"/>
              <a:t>I</a:t>
            </a:r>
            <a:r>
              <a:rPr lang="en-KE" dirty="0"/>
              <a:t>nstall using your </a:t>
            </a:r>
            <a:r>
              <a:rPr lang="en-GB" dirty="0"/>
              <a:t>Linux/macOS</a:t>
            </a:r>
            <a:r>
              <a:rPr lang="en-KE" dirty="0"/>
              <a:t> package managers or using </a:t>
            </a:r>
            <a:r>
              <a:rPr lang="en-GB" dirty="0"/>
              <a:t>the pip</a:t>
            </a:r>
            <a:r>
              <a:rPr lang="en-KE" dirty="0"/>
              <a:t> </a:t>
            </a:r>
            <a:r>
              <a:rPr lang="en-GB" dirty="0"/>
              <a:t>Python</a:t>
            </a:r>
            <a:r>
              <a:rPr lang="en-KE" dirty="0"/>
              <a:t> package manager </a:t>
            </a:r>
          </a:p>
          <a:p>
            <a:endParaRPr lang="en-KE" dirty="0"/>
          </a:p>
          <a:p>
            <a:r>
              <a:rPr lang="en-KE" b="1" dirty="0"/>
              <a:t>Note: </a:t>
            </a:r>
            <a:r>
              <a:rPr lang="en-GB" b="1" dirty="0"/>
              <a:t>Windows is not officially supported to run Ansible, but you can fully manage Windows systems remotely with Ansible, with PowerShell over </a:t>
            </a:r>
            <a:r>
              <a:rPr lang="en-GB" b="1" dirty="0" err="1"/>
              <a:t>WinRM</a:t>
            </a:r>
            <a:r>
              <a:rPr lang="en-GB" b="1" dirty="0"/>
              <a:t> under the hood. Or you can go the WSL (Windows Subsystem for Linux) route </a:t>
            </a:r>
            <a:endParaRPr lang="en-KE" b="1" dirty="0"/>
          </a:p>
        </p:txBody>
      </p:sp>
    </p:spTree>
    <p:extLst>
      <p:ext uri="{BB962C8B-B14F-4D97-AF65-F5344CB8AC3E}">
        <p14:creationId xmlns:p14="http://schemas.microsoft.com/office/powerpoint/2010/main" val="25309436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0F0CE-811A-FDE5-43B4-9D9D3E811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+mn-lt"/>
              </a:rPr>
              <a:t>Lab 1:Install and Get Started</a:t>
            </a:r>
            <a:endParaRPr lang="en-KE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3128C-4468-6A3D-83A1-E7541CC23B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870324" cy="1325563"/>
          </a:xfrm>
        </p:spPr>
        <p:txBody>
          <a:bodyPr/>
          <a:lstStyle/>
          <a:p>
            <a:r>
              <a:rPr lang="en-GB" dirty="0">
                <a:hlinkClick r:id="rId2"/>
              </a:rPr>
              <a:t>https://github.com/HumpreyDev/Strathmore-University-Summer-School-on-Digital-Technologies/tree/main</a:t>
            </a:r>
            <a:r>
              <a:rPr lang="en-GB" dirty="0"/>
              <a:t>    </a:t>
            </a:r>
            <a:r>
              <a:rPr lang="en-GB" dirty="0">
                <a:sym typeface="Wingdings" pitchFamily="2" charset="2"/>
              </a:rPr>
              <a:t> Go to Lab 1 Directory </a:t>
            </a:r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151013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1F684B-1EB3-167D-3B58-5A5FEEB9E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496" y="145886"/>
            <a:ext cx="11393213" cy="736984"/>
          </a:xfrm>
        </p:spPr>
        <p:txBody>
          <a:bodyPr/>
          <a:lstStyle/>
          <a:p>
            <a:r>
              <a:rPr lang="en-KE" b="1" dirty="0">
                <a:latin typeface="+mn-lt"/>
              </a:rPr>
              <a:t>Ansible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AB4F6-9819-7DC5-4DAE-76BA6602F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9904" y="882870"/>
            <a:ext cx="10849303" cy="4705515"/>
          </a:xfrm>
        </p:spPr>
        <p:txBody>
          <a:bodyPr>
            <a:normAutofit/>
          </a:bodyPr>
          <a:lstStyle/>
          <a:p>
            <a:r>
              <a:rPr lang="en-KE" sz="3200" dirty="0"/>
              <a:t>Ansible recommends setting up your project in a modular fashion. </a:t>
            </a:r>
            <a:r>
              <a:rPr lang="en-GB" sz="3200" dirty="0"/>
              <a:t>This</a:t>
            </a:r>
            <a:r>
              <a:rPr lang="en-KE" sz="3200" dirty="0"/>
              <a:t> makes it more scalable, </a:t>
            </a:r>
            <a:r>
              <a:rPr lang="en-GB" sz="3200" dirty="0"/>
              <a:t>easier</a:t>
            </a:r>
            <a:r>
              <a:rPr lang="en-KE" sz="3200" dirty="0"/>
              <a:t> to manage and </a:t>
            </a:r>
            <a:r>
              <a:rPr lang="en-GB" sz="3200" dirty="0"/>
              <a:t>allows</a:t>
            </a:r>
            <a:r>
              <a:rPr lang="en-KE" sz="3200" dirty="0"/>
              <a:t> seamless </a:t>
            </a:r>
            <a:r>
              <a:rPr lang="en-GB" sz="3200" dirty="0"/>
              <a:t>collaboration.</a:t>
            </a:r>
            <a:r>
              <a:rPr lang="en-KE" sz="3200" dirty="0"/>
              <a:t> This structure makes </a:t>
            </a:r>
            <a:r>
              <a:rPr lang="en-GB" sz="3200" dirty="0"/>
              <a:t>the</a:t>
            </a:r>
            <a:r>
              <a:rPr lang="en-KE" sz="3200" dirty="0"/>
              <a:t> </a:t>
            </a:r>
            <a:r>
              <a:rPr lang="en-GB" sz="3200" dirty="0"/>
              <a:t>separation</a:t>
            </a:r>
            <a:r>
              <a:rPr lang="en-KE" sz="3200" dirty="0"/>
              <a:t> of tasks and variables, the reuse of project components such as roles (we will demonstrate this later) also maintains </a:t>
            </a:r>
            <a:r>
              <a:rPr lang="en-GB" sz="3200" dirty="0"/>
              <a:t>idempotency and readability. </a:t>
            </a:r>
          </a:p>
          <a:p>
            <a:pPr lvl="2"/>
            <a:r>
              <a:rPr lang="en-GB" sz="3200" dirty="0"/>
              <a:t>Idempotency is key to Ansible’s Infrastructure as code (</a:t>
            </a:r>
            <a:r>
              <a:rPr lang="en-GB" sz="3200" dirty="0" err="1"/>
              <a:t>IaC</a:t>
            </a:r>
            <a:r>
              <a:rPr lang="en-GB" sz="3200" dirty="0"/>
              <a:t>) management. This is the ability of an operation to produce the same result regardless of how many times it is repeated</a:t>
            </a:r>
            <a:r>
              <a:rPr lang="en-KE" sz="3200" dirty="0"/>
              <a:t> </a:t>
            </a:r>
          </a:p>
          <a:p>
            <a:endParaRPr lang="en-KE" sz="3200" dirty="0"/>
          </a:p>
        </p:txBody>
      </p:sp>
    </p:spTree>
    <p:extLst>
      <p:ext uri="{BB962C8B-B14F-4D97-AF65-F5344CB8AC3E}">
        <p14:creationId xmlns:p14="http://schemas.microsoft.com/office/powerpoint/2010/main" val="16115277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32DD4-14E1-068F-24C5-842609B44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634" y="166907"/>
            <a:ext cx="10809890" cy="778870"/>
          </a:xfrm>
        </p:spPr>
        <p:txBody>
          <a:bodyPr/>
          <a:lstStyle/>
          <a:p>
            <a:r>
              <a:rPr lang="en-KE" b="1" dirty="0">
                <a:latin typeface="+mn-lt"/>
              </a:rPr>
              <a:t>Ansible Playbook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FA3E4B-EA13-CD1E-5F9C-95ACA3836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634" y="945776"/>
            <a:ext cx="11017470" cy="5623190"/>
          </a:xfrm>
        </p:spPr>
        <p:txBody>
          <a:bodyPr>
            <a:normAutofit fontScale="85000" lnSpcReduction="20000"/>
          </a:bodyPr>
          <a:lstStyle/>
          <a:p>
            <a:r>
              <a:rPr lang="en-GB" dirty="0"/>
              <a:t>A Playbook is the term that Ansible uses for a configuration management script.</a:t>
            </a:r>
          </a:p>
          <a:p>
            <a:r>
              <a:rPr lang="en-GB" dirty="0"/>
              <a:t>Playbooks are YAML files that inform Ansible about what it should do. Ansible expects to work its way through a list of commands and arguments, as well as any configuration details that may be required</a:t>
            </a:r>
          </a:p>
          <a:p>
            <a:r>
              <a:rPr lang="en-GB" dirty="0"/>
              <a:t>The command: ansible-playbook {</a:t>
            </a:r>
            <a:r>
              <a:rPr lang="en-GB" dirty="0" err="1"/>
              <a:t>name_of_playbook.yaml</a:t>
            </a:r>
            <a:r>
              <a:rPr lang="en-GB" dirty="0"/>
              <a:t>} runs your playbook </a:t>
            </a:r>
          </a:p>
          <a:p>
            <a:r>
              <a:rPr lang="en-GB" dirty="0">
                <a:hlinkClick r:id="rId2"/>
              </a:rPr>
              <a:t>https://github.com/HumpreyDev/Strathmore-University-Summer-School-on-Digital-Technologies/tree/main</a:t>
            </a:r>
            <a:r>
              <a:rPr lang="en-GB" dirty="0"/>
              <a:t>    </a:t>
            </a:r>
            <a:r>
              <a:rPr lang="en-GB" dirty="0">
                <a:sym typeface="Wingdings" pitchFamily="2" charset="2"/>
              </a:rPr>
              <a:t> . Go to Lab 2.0 Directory to run first ping playbook</a:t>
            </a:r>
            <a:endParaRPr lang="en-KE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. </a:t>
            </a:r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0B9210-7EFC-85C2-0B37-1F5434DF18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517" y="3880753"/>
            <a:ext cx="6365008" cy="1958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106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67C44-5622-3ABA-BE1C-F0AC81915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b="1" dirty="0">
                <a:latin typeface="+mn-lt"/>
              </a:rPr>
              <a:t>Basic Syntax rules when working with YAML and Ansible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8586D-8182-130B-FA1D-A39425E34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File Structure:</a:t>
            </a:r>
            <a:r>
              <a:rPr lang="en-GB" dirty="0"/>
              <a:t> Start every YAML file with --- to indicate the beginning of the document.</a:t>
            </a:r>
          </a:p>
          <a:p>
            <a:r>
              <a:rPr lang="en-GB" b="1" dirty="0"/>
              <a:t>Indentation and Spacing:</a:t>
            </a:r>
            <a:r>
              <a:rPr lang="en-GB" dirty="0"/>
              <a:t> Use two spaces per indentation level. Ensure proper spacing within lists and around colons</a:t>
            </a:r>
          </a:p>
          <a:p>
            <a:r>
              <a:rPr lang="en-GB" b="1" dirty="0"/>
              <a:t>Case Sensitivity:</a:t>
            </a:r>
            <a:r>
              <a:rPr lang="en-GB" dirty="0"/>
              <a:t> YAML is case-sensitive; maintain consistent casing for keys</a:t>
            </a:r>
          </a:p>
          <a:p>
            <a:r>
              <a:rPr lang="en-GB" dirty="0"/>
              <a:t>Save files with .</a:t>
            </a:r>
            <a:r>
              <a:rPr lang="en-GB" dirty="0" err="1"/>
              <a:t>yml</a:t>
            </a:r>
            <a:r>
              <a:rPr lang="en-GB" dirty="0"/>
              <a:t> or .</a:t>
            </a:r>
            <a:r>
              <a:rPr lang="en-GB" dirty="0" err="1"/>
              <a:t>yaml</a:t>
            </a:r>
            <a:endParaRPr lang="en-GB" dirty="0"/>
          </a:p>
          <a:p>
            <a:r>
              <a:rPr lang="en-GB" b="1" dirty="0"/>
              <a:t>Variable Spacing:</a:t>
            </a:r>
            <a:r>
              <a:rPr lang="en-GB" dirty="0"/>
              <a:t> Always ensure there is a space inside the curly braces when using variables, e.g., {{ variable }}, not {{variable}}.</a:t>
            </a:r>
          </a:p>
          <a:p>
            <a:endParaRPr lang="en-GB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7133788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4345C-710F-7F51-9B2E-852A75963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249511"/>
            <a:ext cx="10515600" cy="1325563"/>
          </a:xfrm>
        </p:spPr>
        <p:txBody>
          <a:bodyPr/>
          <a:lstStyle/>
          <a:p>
            <a:r>
              <a:rPr lang="en-KE" b="1" dirty="0">
                <a:latin typeface="+mn-lt"/>
              </a:rPr>
              <a:t>A more complex playbook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286BE-F9A7-6D4D-4DEE-009C840799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862" y="1334814"/>
            <a:ext cx="10985938" cy="4842149"/>
          </a:xfrm>
        </p:spPr>
        <p:txBody>
          <a:bodyPr/>
          <a:lstStyle/>
          <a:p>
            <a:r>
              <a:rPr lang="en-KE" dirty="0"/>
              <a:t>The playbook in  </a:t>
            </a:r>
            <a:r>
              <a:rPr lang="en-GB" dirty="0">
                <a:hlinkClick r:id="rId2"/>
              </a:rPr>
              <a:t>https://github.com/HumpreyDev/Strathmore-University-Summer-School-on-Digital-Technologies/tree/main</a:t>
            </a:r>
            <a:r>
              <a:rPr lang="en-GB" dirty="0"/>
              <a:t>    </a:t>
            </a:r>
            <a:r>
              <a:rPr lang="en-GB" dirty="0">
                <a:sym typeface="Wingdings" pitchFamily="2" charset="2"/>
              </a:rPr>
              <a:t> Go to Lab 2.1:All-In-One-Project Directory</a:t>
            </a:r>
          </a:p>
          <a:p>
            <a:pPr marL="514350" indent="-514350">
              <a:buAutoNum type="arabicPeriod"/>
            </a:pPr>
            <a:r>
              <a:rPr lang="en-GB" dirty="0">
                <a:sym typeface="Wingdings" pitchFamily="2" charset="2"/>
              </a:rPr>
              <a:t>Installs </a:t>
            </a:r>
            <a:r>
              <a:rPr lang="en-GB" dirty="0" err="1">
                <a:sym typeface="Wingdings" pitchFamily="2" charset="2"/>
              </a:rPr>
              <a:t>apache</a:t>
            </a:r>
            <a:r>
              <a:rPr lang="en-GB" dirty="0">
                <a:sym typeface="Wingdings" pitchFamily="2" charset="2"/>
              </a:rPr>
              <a:t> web server. </a:t>
            </a:r>
          </a:p>
          <a:p>
            <a:pPr marL="514350" indent="-514350">
              <a:buAutoNum type="arabicPeriod"/>
            </a:pPr>
            <a:r>
              <a:rPr lang="en-GB" dirty="0">
                <a:sym typeface="Wingdings" pitchFamily="2" charset="2"/>
              </a:rPr>
              <a:t> Creates the first web page content</a:t>
            </a:r>
          </a:p>
          <a:p>
            <a:pPr marL="514350" indent="-514350">
              <a:buAutoNum type="arabicPeriod"/>
            </a:pPr>
            <a:r>
              <a:rPr lang="en-GB" dirty="0">
                <a:sym typeface="Wingdings" pitchFamily="2" charset="2"/>
              </a:rPr>
              <a:t>Installs </a:t>
            </a:r>
            <a:r>
              <a:rPr lang="en-GB" dirty="0" err="1">
                <a:sym typeface="Wingdings" pitchFamily="2" charset="2"/>
              </a:rPr>
              <a:t>Firewalld</a:t>
            </a:r>
            <a:r>
              <a:rPr lang="en-GB" dirty="0">
                <a:sym typeface="Wingdings" pitchFamily="2" charset="2"/>
              </a:rPr>
              <a:t> and enables port 80 </a:t>
            </a:r>
          </a:p>
          <a:p>
            <a:pPr marL="514350" indent="-514350">
              <a:buAutoNum type="arabicPeriod"/>
            </a:pPr>
            <a:r>
              <a:rPr lang="en-GB" dirty="0">
                <a:sym typeface="Wingdings" pitchFamily="2" charset="2"/>
              </a:rPr>
              <a:t>Tests web server locally </a:t>
            </a:r>
          </a:p>
          <a:p>
            <a:pPr marL="0" indent="0">
              <a:buNone/>
            </a:pPr>
            <a:endParaRPr lang="en-GB" dirty="0">
              <a:sym typeface="Wingdings" pitchFamily="2" charset="2"/>
            </a:endParaRP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What’s wrong with this playbook? </a:t>
            </a:r>
            <a:endParaRPr lang="en-KE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7826408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F6F56-BE4A-56FA-E32C-7E2B51FFD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010" y="144409"/>
            <a:ext cx="10515600" cy="717440"/>
          </a:xfrm>
        </p:spPr>
        <p:txBody>
          <a:bodyPr/>
          <a:lstStyle/>
          <a:p>
            <a:r>
              <a:rPr lang="en-KE" b="1" dirty="0">
                <a:latin typeface="+mn-lt"/>
              </a:rPr>
              <a:t>Ansible Projects File Structure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1D0448-AA03-7D5F-B550-ABF16726AE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54566" y="1471448"/>
            <a:ext cx="5699234" cy="4705515"/>
          </a:xfrm>
        </p:spPr>
        <p:txBody>
          <a:bodyPr>
            <a:normAutofit fontScale="85000" lnSpcReduction="20000"/>
          </a:bodyPr>
          <a:lstStyle/>
          <a:p>
            <a:r>
              <a:rPr lang="en-KE" dirty="0"/>
              <a:t>Inventory: This defines the target </a:t>
            </a:r>
            <a:r>
              <a:rPr lang="en-GB" dirty="0"/>
              <a:t>hosts,</a:t>
            </a:r>
            <a:r>
              <a:rPr lang="en-KE" dirty="0"/>
              <a:t> at </a:t>
            </a:r>
            <a:r>
              <a:rPr lang="en-GB" dirty="0"/>
              <a:t>times,</a:t>
            </a:r>
            <a:r>
              <a:rPr lang="en-KE" dirty="0"/>
              <a:t> </a:t>
            </a:r>
            <a:r>
              <a:rPr lang="en-GB" dirty="0"/>
              <a:t>a group</a:t>
            </a:r>
            <a:r>
              <a:rPr lang="en-KE" dirty="0"/>
              <a:t> of hosts. The files are either saved </a:t>
            </a:r>
            <a:r>
              <a:rPr lang="en-GB" dirty="0"/>
              <a:t>as .</a:t>
            </a:r>
            <a:r>
              <a:rPr lang="en-GB" dirty="0" err="1"/>
              <a:t>ini</a:t>
            </a:r>
            <a:r>
              <a:rPr lang="en-KE" dirty="0"/>
              <a:t> or .yaml </a:t>
            </a:r>
            <a:r>
              <a:rPr lang="en-GB" dirty="0"/>
              <a:t>format. </a:t>
            </a:r>
            <a:r>
              <a:rPr lang="en-KE" dirty="0"/>
              <a:t> </a:t>
            </a:r>
          </a:p>
          <a:p>
            <a:r>
              <a:rPr lang="en-KE" dirty="0"/>
              <a:t>Playbooks- entry point to automation execution files and </a:t>
            </a:r>
            <a:r>
              <a:rPr lang="en-GB" dirty="0"/>
              <a:t>have</a:t>
            </a:r>
            <a:r>
              <a:rPr lang="en-KE" dirty="0"/>
              <a:t> </a:t>
            </a:r>
            <a:r>
              <a:rPr lang="en-GB" dirty="0"/>
              <a:t>the</a:t>
            </a:r>
            <a:r>
              <a:rPr lang="en-KE" dirty="0"/>
              <a:t> playbook files that will be run </a:t>
            </a:r>
          </a:p>
          <a:p>
            <a:r>
              <a:rPr lang="en-KE" dirty="0"/>
              <a:t>Roles - are </a:t>
            </a:r>
            <a:r>
              <a:rPr lang="en-GB" dirty="0"/>
              <a:t>reusable units of automation a service or a task. Each role usually has a separate directory for different tasks</a:t>
            </a:r>
          </a:p>
          <a:p>
            <a:r>
              <a:rPr lang="en-GB" dirty="0" err="1"/>
              <a:t>ansible.cfg</a:t>
            </a:r>
            <a:r>
              <a:rPr lang="en-GB" dirty="0"/>
              <a:t> is Ansible's </a:t>
            </a:r>
            <a:r>
              <a:rPr lang="en-GB" b="1" dirty="0"/>
              <a:t>configuration file</a:t>
            </a:r>
            <a:r>
              <a:rPr lang="en-GB" dirty="0"/>
              <a:t>. It controls how Ansible behaves when running playbooks, and lets you set default settings so you don't have to repeat them on every command or in every playbook. </a:t>
            </a:r>
          </a:p>
          <a:p>
            <a:endParaRPr lang="en-K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511786C-5F5E-C2B9-33E3-86FC08ADFE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216" y="1251798"/>
            <a:ext cx="5274594" cy="2554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097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B10E2-23E3-9754-70F1-677873B5B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7847-5521-8059-B9B4-2B9362207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249512"/>
            <a:ext cx="10515600" cy="706930"/>
          </a:xfrm>
        </p:spPr>
        <p:txBody>
          <a:bodyPr/>
          <a:lstStyle/>
          <a:p>
            <a:r>
              <a:rPr lang="en-KE" b="1" dirty="0">
                <a:latin typeface="+mn-lt"/>
              </a:rPr>
              <a:t>A more complex playbook v2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D803B-7A9B-ED7F-1CB6-0DE071DD10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7862" y="956442"/>
            <a:ext cx="10985938" cy="4842149"/>
          </a:xfrm>
        </p:spPr>
        <p:txBody>
          <a:bodyPr>
            <a:normAutofit/>
          </a:bodyPr>
          <a:lstStyle/>
          <a:p>
            <a:r>
              <a:rPr lang="en-KE" dirty="0"/>
              <a:t>The playbook in  </a:t>
            </a:r>
            <a:r>
              <a:rPr lang="en-GB" dirty="0">
                <a:hlinkClick r:id="rId2"/>
              </a:rPr>
              <a:t>https://github.com/HumpreyDev/Strathmore-University-Summer-School-on-Digital-Technologies/tree/main</a:t>
            </a:r>
            <a:r>
              <a:rPr lang="en-GB" dirty="0"/>
              <a:t>    </a:t>
            </a:r>
            <a:r>
              <a:rPr lang="en-GB" dirty="0">
                <a:sym typeface="Wingdings" pitchFamily="2" charset="2"/>
              </a:rPr>
              <a:t> Go to Lab 2.2 Ansible-Directories-Project Directory</a:t>
            </a:r>
          </a:p>
          <a:p>
            <a:pPr marL="0" indent="0">
              <a:buNone/>
            </a:pPr>
            <a:r>
              <a:rPr lang="en-GB" dirty="0">
                <a:sym typeface="Wingdings" pitchFamily="2" charset="2"/>
              </a:rPr>
              <a:t>We fix the previous all-in-one project into the desired Ansible project file structure. The playbook still does the following: </a:t>
            </a:r>
          </a:p>
          <a:p>
            <a:pPr marL="514350" indent="-514350">
              <a:buAutoNum type="arabicPeriod"/>
            </a:pPr>
            <a:r>
              <a:rPr lang="en-GB" dirty="0">
                <a:sym typeface="Wingdings" pitchFamily="2" charset="2"/>
              </a:rPr>
              <a:t>Installs Apache web server.  </a:t>
            </a:r>
          </a:p>
          <a:p>
            <a:pPr marL="514350" indent="-514350">
              <a:buAutoNum type="arabicPeriod"/>
            </a:pPr>
            <a:r>
              <a:rPr lang="en-GB" dirty="0">
                <a:sym typeface="Wingdings" pitchFamily="2" charset="2"/>
              </a:rPr>
              <a:t> Creates the first web page content</a:t>
            </a:r>
          </a:p>
          <a:p>
            <a:pPr marL="514350" indent="-514350">
              <a:buAutoNum type="arabicPeriod"/>
            </a:pPr>
            <a:r>
              <a:rPr lang="en-GB" dirty="0">
                <a:sym typeface="Wingdings" pitchFamily="2" charset="2"/>
              </a:rPr>
              <a:t>Installs </a:t>
            </a:r>
            <a:r>
              <a:rPr lang="en-GB" dirty="0" err="1">
                <a:sym typeface="Wingdings" pitchFamily="2" charset="2"/>
              </a:rPr>
              <a:t>Firewalld</a:t>
            </a:r>
            <a:r>
              <a:rPr lang="en-GB" dirty="0">
                <a:sym typeface="Wingdings" pitchFamily="2" charset="2"/>
              </a:rPr>
              <a:t> and enables port 80 </a:t>
            </a:r>
          </a:p>
          <a:p>
            <a:pPr marL="514350" indent="-514350">
              <a:buAutoNum type="arabicPeriod"/>
            </a:pPr>
            <a:r>
              <a:rPr lang="en-GB" dirty="0">
                <a:sym typeface="Wingdings" pitchFamily="2" charset="2"/>
              </a:rPr>
              <a:t>Tests web server locally </a:t>
            </a:r>
          </a:p>
          <a:p>
            <a:pPr marL="0" indent="0">
              <a:buNone/>
            </a:pPr>
            <a:r>
              <a:rPr lang="en-KE" dirty="0">
                <a:sym typeface="Wingdings" pitchFamily="2" charset="2"/>
              </a:rPr>
              <a:t> </a:t>
            </a:r>
            <a:r>
              <a:rPr lang="en-GB" dirty="0">
                <a:sym typeface="Wingdings" pitchFamily="2" charset="2"/>
              </a:rPr>
              <a:t>What’s good with this organisation? </a:t>
            </a:r>
            <a:endParaRPr lang="en-KE" dirty="0">
              <a:sym typeface="Wingdings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91329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064F6C-5739-FD35-CA82-7557B3EFB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b="1" dirty="0">
                <a:latin typeface="+mn-lt"/>
              </a:rPr>
              <a:t>Anothe</a:t>
            </a:r>
            <a:r>
              <a:rPr lang="en-GB" b="1" dirty="0">
                <a:latin typeface="+mn-lt"/>
              </a:rPr>
              <a:t>r</a:t>
            </a:r>
            <a:r>
              <a:rPr lang="en-KE" b="1" dirty="0">
                <a:latin typeface="+mn-lt"/>
              </a:rPr>
              <a:t> way of organizing Ansible Projects File Structure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C30E0-5566-D795-2E55-D18308BDC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E" dirty="0"/>
              <a:t>The playbook in  </a:t>
            </a:r>
            <a:r>
              <a:rPr lang="en-GB" dirty="0">
                <a:hlinkClick r:id="rId2"/>
              </a:rPr>
              <a:t>https://github.com/HumpreyDev/Strathmore-University-Summer-School-on-Digital-Technologies/tree/main</a:t>
            </a:r>
            <a:r>
              <a:rPr lang="en-GB" dirty="0"/>
              <a:t>    </a:t>
            </a:r>
            <a:r>
              <a:rPr lang="en-GB" dirty="0">
                <a:sym typeface="Wingdings" pitchFamily="2" charset="2"/>
              </a:rPr>
              <a:t> Go to Lab 2.3 Ansible-Directories-Project-S2 Directory</a:t>
            </a:r>
          </a:p>
          <a:p>
            <a:endParaRPr lang="en-GB" dirty="0">
              <a:sym typeface="Wingdings" pitchFamily="2" charset="2"/>
            </a:endParaRPr>
          </a:p>
          <a:p>
            <a:endParaRPr lang="en-GB" dirty="0">
              <a:sym typeface="Wingdings" pitchFamily="2" charset="2"/>
            </a:endParaRPr>
          </a:p>
          <a:p>
            <a:pPr marL="0" indent="0">
              <a:buNone/>
            </a:pPr>
            <a:endParaRPr lang="en-GB" dirty="0">
              <a:sym typeface="Wingdings" pitchFamily="2" charset="2"/>
            </a:endParaRPr>
          </a:p>
          <a:p>
            <a:r>
              <a:rPr lang="en-GB" dirty="0">
                <a:sym typeface="Wingdings" pitchFamily="2" charset="2"/>
              </a:rPr>
              <a:t>What do you notice that is different? </a:t>
            </a:r>
          </a:p>
          <a:p>
            <a:r>
              <a:rPr lang="en-GB" dirty="0">
                <a:sym typeface="Wingdings" pitchFamily="2" charset="2"/>
              </a:rPr>
              <a:t>What do you think can be moved to the </a:t>
            </a:r>
            <a:r>
              <a:rPr lang="en-GB" dirty="0" err="1"/>
              <a:t>ansible.cfg</a:t>
            </a:r>
            <a:r>
              <a:rPr lang="en-GB" dirty="0"/>
              <a:t>  file? </a:t>
            </a:r>
            <a:endParaRPr lang="en-GB" dirty="0">
              <a:sym typeface="Wingdings" pitchFamily="2" charset="2"/>
            </a:endParaRPr>
          </a:p>
          <a:p>
            <a:endParaRPr lang="en-KE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310E45-6BE4-D390-413F-782783200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12" y="3131645"/>
            <a:ext cx="3390900" cy="149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3161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01B51-DB67-5DEC-AB38-53D0FB3D9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662" y="112876"/>
            <a:ext cx="10515600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+mn-lt"/>
                <a:ea typeface="Trebuchet MS" pitchFamily="34" charset="-122"/>
                <a:cs typeface="Trebuchet MS" pitchFamily="34" charset="-120"/>
              </a:rPr>
              <a:t>Ansible Modules Used in This Playbook: Ref </a:t>
            </a:r>
            <a:r>
              <a:rPr lang="en-US" b="1" dirty="0" err="1">
                <a:latin typeface="+mn-lt"/>
                <a:ea typeface="Trebuchet MS" pitchFamily="34" charset="-122"/>
                <a:cs typeface="Trebuchet MS" pitchFamily="34" charset="-120"/>
              </a:rPr>
              <a:t>Github</a:t>
            </a:r>
            <a:r>
              <a:rPr lang="en-US" b="1" dirty="0">
                <a:latin typeface="+mn-lt"/>
                <a:ea typeface="Trebuchet MS" pitchFamily="34" charset="-122"/>
                <a:cs typeface="Trebuchet MS" pitchFamily="34" charset="-120"/>
              </a:rPr>
              <a:t>: Lab 3.1 </a:t>
            </a:r>
            <a:endParaRPr lang="en-KE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A0E6CE-30BB-AE23-C737-D062FBC4D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" y="1438438"/>
            <a:ext cx="10796226" cy="5014913"/>
          </a:xfrm>
        </p:spPr>
        <p:txBody>
          <a:bodyPr/>
          <a:lstStyle/>
          <a:p>
            <a:pPr marL="0" indent="0">
              <a:buNone/>
            </a:pPr>
            <a:endParaRPr lang="en-US" i="1" dirty="0">
              <a:solidFill>
                <a:srgbClr val="1A2F4A"/>
              </a:solidFill>
              <a:ea typeface="Calibri" pitchFamily="34" charset="-122"/>
              <a:cs typeface="Calibri" pitchFamily="34" charset="-120"/>
            </a:endParaRPr>
          </a:p>
          <a:p>
            <a:r>
              <a:rPr lang="en-US" i="1" dirty="0">
                <a:solidFill>
                  <a:srgbClr val="1A2F4A"/>
                </a:solidFill>
                <a:ea typeface="Calibri" pitchFamily="34" charset="-122"/>
                <a:cs typeface="Calibri" pitchFamily="34" charset="-120"/>
              </a:rPr>
              <a:t>A module is a unit of work. Ansible ships with thousands of built-in modules.</a:t>
            </a:r>
            <a:endParaRPr lang="en-US" dirty="0"/>
          </a:p>
          <a:p>
            <a:endParaRPr lang="en-KE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7A5D0FF-13BD-AD56-3144-413BAEC3C5F5}"/>
              </a:ext>
            </a:extLst>
          </p:cNvPr>
          <p:cNvSpPr/>
          <p:nvPr/>
        </p:nvSpPr>
        <p:spPr>
          <a:xfrm>
            <a:off x="365760" y="2675934"/>
            <a:ext cx="3657600" cy="1889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KE" sz="240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8B0E0838-CBC5-C110-E52A-DE702BED3ADE}"/>
              </a:ext>
            </a:extLst>
          </p:cNvPr>
          <p:cNvSpPr/>
          <p:nvPr/>
        </p:nvSpPr>
        <p:spPr>
          <a:xfrm>
            <a:off x="365760" y="2675933"/>
            <a:ext cx="3657600" cy="382889"/>
          </a:xfrm>
          <a:prstGeom prst="rect">
            <a:avLst/>
          </a:prstGeom>
          <a:solidFill>
            <a:schemeClr val="bg1"/>
          </a:solidFill>
          <a:ln w="12700">
            <a:solidFill>
              <a:srgbClr val="00B4D8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7DD99B75-CFB5-141D-DCF2-B5E44F949E32}"/>
              </a:ext>
            </a:extLst>
          </p:cNvPr>
          <p:cNvSpPr/>
          <p:nvPr/>
        </p:nvSpPr>
        <p:spPr>
          <a:xfrm>
            <a:off x="487680" y="267593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</a:t>
            </a:r>
            <a:endParaRPr lang="en-US" sz="1867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C45F7977-0B53-3EFD-8434-F75CDD999761}"/>
              </a:ext>
            </a:extLst>
          </p:cNvPr>
          <p:cNvSpPr/>
          <p:nvPr/>
        </p:nvSpPr>
        <p:spPr>
          <a:xfrm>
            <a:off x="487680" y="3187998"/>
            <a:ext cx="341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Debian/Ubuntu packages.</a:t>
            </a:r>
            <a:endParaRPr lang="en-US" sz="1400" dirty="0"/>
          </a:p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Install, remove, or update with state: latest/present/absent.</a:t>
            </a:r>
            <a:endParaRPr lang="en-US" sz="1400" dirty="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6587BB7-38F4-C04F-5064-506785823E0C}"/>
              </a:ext>
            </a:extLst>
          </p:cNvPr>
          <p:cNvSpPr/>
          <p:nvPr/>
        </p:nvSpPr>
        <p:spPr>
          <a:xfrm>
            <a:off x="4267200" y="2675934"/>
            <a:ext cx="3657600" cy="1889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KE" sz="240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1C0DB35E-B4CD-EC68-4551-B7B33BC9D175}"/>
              </a:ext>
            </a:extLst>
          </p:cNvPr>
          <p:cNvSpPr/>
          <p:nvPr/>
        </p:nvSpPr>
        <p:spPr>
          <a:xfrm>
            <a:off x="4267200" y="2675934"/>
            <a:ext cx="3657600" cy="463296"/>
          </a:xfrm>
          <a:prstGeom prst="rect">
            <a:avLst/>
          </a:prstGeom>
          <a:solidFill>
            <a:schemeClr val="bg1"/>
          </a:solidFill>
          <a:ln w="12700">
            <a:solidFill>
              <a:srgbClr val="0077B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0EA2B877-51C9-EED3-2313-6FD78FACE9A5}"/>
              </a:ext>
            </a:extLst>
          </p:cNvPr>
          <p:cNvSpPr/>
          <p:nvPr/>
        </p:nvSpPr>
        <p:spPr>
          <a:xfrm>
            <a:off x="4389120" y="267593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apt_key</a:t>
            </a:r>
            <a:endParaRPr lang="en-US" sz="1867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06F56BEC-4E40-0FA2-AA12-A96F8E998481}"/>
              </a:ext>
            </a:extLst>
          </p:cNvPr>
          <p:cNvSpPr/>
          <p:nvPr/>
        </p:nvSpPr>
        <p:spPr>
          <a:xfrm>
            <a:off x="4389120" y="3187998"/>
            <a:ext cx="341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GPG key to the system keyring.</a:t>
            </a:r>
            <a:endParaRPr lang="en-US" sz="1400" dirty="0"/>
          </a:p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Ensures packages are from a trusted, verified source.</a:t>
            </a:r>
            <a:endParaRPr lang="en-US" sz="1400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17BC682B-9FE9-C1B8-6EE7-801C6998CC3D}"/>
              </a:ext>
            </a:extLst>
          </p:cNvPr>
          <p:cNvSpPr/>
          <p:nvPr/>
        </p:nvSpPr>
        <p:spPr>
          <a:xfrm>
            <a:off x="8168640" y="2675934"/>
            <a:ext cx="3657600" cy="1889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KE" sz="2400"/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02CFD047-4A42-49B9-CB3E-995546836853}"/>
              </a:ext>
            </a:extLst>
          </p:cNvPr>
          <p:cNvSpPr/>
          <p:nvPr/>
        </p:nvSpPr>
        <p:spPr>
          <a:xfrm>
            <a:off x="8168640" y="2675934"/>
            <a:ext cx="3657600" cy="463296"/>
          </a:xfrm>
          <a:prstGeom prst="rect">
            <a:avLst/>
          </a:prstGeom>
          <a:solidFill>
            <a:schemeClr val="bg1"/>
          </a:solidFill>
          <a:ln w="12700">
            <a:solidFill>
              <a:srgbClr val="06D6A0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B9DF746F-47B1-27E3-BB41-C0295E8EFA98}"/>
              </a:ext>
            </a:extLst>
          </p:cNvPr>
          <p:cNvSpPr/>
          <p:nvPr/>
        </p:nvSpPr>
        <p:spPr>
          <a:xfrm>
            <a:off x="8290560" y="267593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apt_repository</a:t>
            </a:r>
            <a:endParaRPr lang="en-US" sz="1867" dirty="0"/>
          </a:p>
        </p:txBody>
      </p:sp>
      <p:sp>
        <p:nvSpPr>
          <p:cNvPr id="16" name="Text 16">
            <a:extLst>
              <a:ext uri="{FF2B5EF4-FFF2-40B4-BE49-F238E27FC236}">
                <a16:creationId xmlns:a16="http://schemas.microsoft.com/office/drawing/2014/main" id="{437BD643-5CC6-B4D5-F565-4596B865AA43}"/>
              </a:ext>
            </a:extLst>
          </p:cNvPr>
          <p:cNvSpPr/>
          <p:nvPr/>
        </p:nvSpPr>
        <p:spPr>
          <a:xfrm>
            <a:off x="8290560" y="3187998"/>
            <a:ext cx="341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an external software repository.</a:t>
            </a:r>
            <a:endParaRPr lang="en-US" sz="1400" dirty="0"/>
          </a:p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apt where to find third-party packages like Docker.</a:t>
            </a:r>
            <a:endParaRPr lang="en-US" sz="1400" dirty="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0FC782A8-F5F9-74A1-8A74-43B5C90E9D37}"/>
              </a:ext>
            </a:extLst>
          </p:cNvPr>
          <p:cNvSpPr/>
          <p:nvPr/>
        </p:nvSpPr>
        <p:spPr>
          <a:xfrm>
            <a:off x="365760" y="4748574"/>
            <a:ext cx="3657600" cy="1889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KE" sz="240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7421ED5-5865-D16B-E342-9E2CC16231F4}"/>
              </a:ext>
            </a:extLst>
          </p:cNvPr>
          <p:cNvSpPr/>
          <p:nvPr/>
        </p:nvSpPr>
        <p:spPr>
          <a:xfrm>
            <a:off x="365760" y="4748574"/>
            <a:ext cx="3657600" cy="463296"/>
          </a:xfrm>
          <a:prstGeom prst="rect">
            <a:avLst/>
          </a:prstGeom>
          <a:solidFill>
            <a:schemeClr val="bg1"/>
          </a:solidFill>
          <a:ln w="12700">
            <a:solidFill>
              <a:srgbClr val="FFD166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5433AC7F-F914-DD30-7B6B-E003DDFEA376}"/>
              </a:ext>
            </a:extLst>
          </p:cNvPr>
          <p:cNvSpPr/>
          <p:nvPr/>
        </p:nvSpPr>
        <p:spPr>
          <a:xfrm>
            <a:off x="487680" y="474857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</a:t>
            </a:r>
            <a:endParaRPr lang="en-US" sz="1867" dirty="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836E000F-AFCF-9361-3A7B-870D617C3E9A}"/>
              </a:ext>
            </a:extLst>
          </p:cNvPr>
          <p:cNvSpPr/>
          <p:nvPr/>
        </p:nvSpPr>
        <p:spPr>
          <a:xfrm>
            <a:off x="487680" y="5260638"/>
            <a:ext cx="341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Python packages via pip.</a:t>
            </a:r>
            <a:endParaRPr lang="en-US" sz="1400" dirty="0"/>
          </a:p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to install the Docker SDK for Python.</a:t>
            </a:r>
            <a:endParaRPr lang="en-US" sz="14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2AAE2638-0112-0EA3-329E-B7B737FC6C4F}"/>
              </a:ext>
            </a:extLst>
          </p:cNvPr>
          <p:cNvSpPr/>
          <p:nvPr/>
        </p:nvSpPr>
        <p:spPr>
          <a:xfrm>
            <a:off x="4267200" y="4748574"/>
            <a:ext cx="3657600" cy="1889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KE" sz="240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7D85E5F6-36EC-CBE8-5716-83F1B28C95B8}"/>
              </a:ext>
            </a:extLst>
          </p:cNvPr>
          <p:cNvSpPr/>
          <p:nvPr/>
        </p:nvSpPr>
        <p:spPr>
          <a:xfrm>
            <a:off x="4267200" y="4748574"/>
            <a:ext cx="3657600" cy="463296"/>
          </a:xfrm>
          <a:prstGeom prst="rect">
            <a:avLst/>
          </a:prstGeom>
          <a:solidFill>
            <a:schemeClr val="bg1"/>
          </a:solidFill>
          <a:ln w="12700">
            <a:solidFill>
              <a:srgbClr val="90E0EF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A978D508-D2D1-E974-24F4-7B4AED857EE2}"/>
              </a:ext>
            </a:extLst>
          </p:cNvPr>
          <p:cNvSpPr/>
          <p:nvPr/>
        </p:nvSpPr>
        <p:spPr>
          <a:xfrm>
            <a:off x="4389120" y="4748574"/>
            <a:ext cx="3413760" cy="463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</a:t>
            </a:r>
            <a:endParaRPr lang="en-US" sz="1867" dirty="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B58E4207-C9DF-8EFC-6520-58CD57515F23}"/>
              </a:ext>
            </a:extLst>
          </p:cNvPr>
          <p:cNvSpPr/>
          <p:nvPr/>
        </p:nvSpPr>
        <p:spPr>
          <a:xfrm>
            <a:off x="4389120" y="5260638"/>
            <a:ext cx="341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 raw shell command.</a:t>
            </a:r>
            <a:endParaRPr lang="en-US" sz="1400" dirty="0"/>
          </a:p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shell parsing — safer than shell: for simple commands.</a:t>
            </a:r>
            <a:endParaRPr lang="en-US" sz="1400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9FE9A1CE-3D6C-EB3E-0C8A-CCBA1E222656}"/>
              </a:ext>
            </a:extLst>
          </p:cNvPr>
          <p:cNvSpPr/>
          <p:nvPr/>
        </p:nvSpPr>
        <p:spPr>
          <a:xfrm>
            <a:off x="8168640" y="4748574"/>
            <a:ext cx="3657600" cy="1889760"/>
          </a:xfrm>
          <a:prstGeom prst="rect">
            <a:avLst/>
          </a:prstGeom>
          <a:solidFill>
            <a:srgbClr val="112240"/>
          </a:solidFill>
          <a:ln w="12700">
            <a:solidFill>
              <a:srgbClr val="112240"/>
            </a:solidFill>
            <a:prstDash val="solid"/>
          </a:ln>
          <a:effectLst>
            <a:outerShdw blurRad="76200" dist="254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KE" sz="2400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3856941C-E278-CFDE-8A45-6470BDDF4F1E}"/>
              </a:ext>
            </a:extLst>
          </p:cNvPr>
          <p:cNvSpPr/>
          <p:nvPr/>
        </p:nvSpPr>
        <p:spPr>
          <a:xfrm>
            <a:off x="8290560" y="4748574"/>
            <a:ext cx="3413760" cy="46329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A16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debug</a:t>
            </a:r>
            <a:endParaRPr lang="en-US" sz="1867" dirty="0"/>
          </a:p>
        </p:txBody>
      </p:sp>
      <p:sp>
        <p:nvSpPr>
          <p:cNvPr id="28" name="Text 28">
            <a:extLst>
              <a:ext uri="{FF2B5EF4-FFF2-40B4-BE49-F238E27FC236}">
                <a16:creationId xmlns:a16="http://schemas.microsoft.com/office/drawing/2014/main" id="{B080A808-CCDF-A310-BA89-38230F4D14D8}"/>
              </a:ext>
            </a:extLst>
          </p:cNvPr>
          <p:cNvSpPr/>
          <p:nvPr/>
        </p:nvSpPr>
        <p:spPr>
          <a:xfrm>
            <a:off x="8290560" y="5260638"/>
            <a:ext cx="3413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Prints messages or variable values.</a:t>
            </a:r>
            <a:endParaRPr lang="en-US" sz="1400" dirty="0"/>
          </a:p>
          <a:p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for verifying output during a playbook run.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230612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A5CC8-3130-8C30-97B6-98A6FE03F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140" y="704852"/>
            <a:ext cx="10988040" cy="575308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Package Management with the apt Module</a:t>
            </a:r>
            <a:br>
              <a:rPr lang="en-US" dirty="0"/>
            </a:br>
            <a:endParaRPr lang="en-KE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D5E114F-247F-248A-E062-321A9D6E27FE}"/>
              </a:ext>
            </a:extLst>
          </p:cNvPr>
          <p:cNvSpPr/>
          <p:nvPr/>
        </p:nvSpPr>
        <p:spPr>
          <a:xfrm>
            <a:off x="487680" y="128016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a single package:</a:t>
            </a:r>
            <a:endParaRPr lang="en-US" sz="1733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C6E61DF-0CA4-F522-18D8-8C394C34A0C5}"/>
              </a:ext>
            </a:extLst>
          </p:cNvPr>
          <p:cNvSpPr/>
          <p:nvPr/>
        </p:nvSpPr>
        <p:spPr>
          <a:xfrm>
            <a:off x="426720" y="1767840"/>
            <a:ext cx="5547360" cy="15849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3C35419-FB4E-4F4C-53EB-104F00200AC9}"/>
              </a:ext>
            </a:extLst>
          </p:cNvPr>
          <p:cNvSpPr/>
          <p:nvPr/>
        </p:nvSpPr>
        <p:spPr>
          <a:xfrm>
            <a:off x="426720" y="1767840"/>
            <a:ext cx="554736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1D2891CF-AF1D-BF27-0997-FCB4B69EA309}"/>
              </a:ext>
            </a:extLst>
          </p:cNvPr>
          <p:cNvSpPr/>
          <p:nvPr/>
        </p:nvSpPr>
        <p:spPr>
          <a:xfrm>
            <a:off x="609600" y="1792224"/>
            <a:ext cx="5181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7BA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single_package.yml</a:t>
            </a:r>
            <a:endParaRPr lang="en-US" sz="1333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574E3935-68C9-F002-E1FB-41C26D705829}"/>
              </a:ext>
            </a:extLst>
          </p:cNvPr>
          <p:cNvSpPr/>
          <p:nvPr/>
        </p:nvSpPr>
        <p:spPr>
          <a:xfrm>
            <a:off x="609600" y="2194560"/>
            <a:ext cx="518160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Install aptitude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apt: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name: aptitude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state: latest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update_cache: yes</a:t>
            </a:r>
            <a:endParaRPr lang="en-US" sz="1467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9BC84817-5F53-187F-6D5A-DDCFDA1A422C}"/>
              </a:ext>
            </a:extLst>
          </p:cNvPr>
          <p:cNvSpPr/>
          <p:nvPr/>
        </p:nvSpPr>
        <p:spPr>
          <a:xfrm>
            <a:off x="487680" y="3474720"/>
            <a:ext cx="54864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b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multiple packages at once:</a:t>
            </a:r>
            <a:endParaRPr lang="en-US" sz="1733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0A870FC2-4C56-D4B8-4F38-6D8D60A2CFD8}"/>
              </a:ext>
            </a:extLst>
          </p:cNvPr>
          <p:cNvSpPr/>
          <p:nvPr/>
        </p:nvSpPr>
        <p:spPr>
          <a:xfrm>
            <a:off x="426720" y="3962400"/>
            <a:ext cx="5547360" cy="2377440"/>
          </a:xfrm>
          <a:prstGeom prst="rect">
            <a:avLst/>
          </a:prstGeom>
          <a:solidFill>
            <a:srgbClr val="0D111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0101C26-20F3-733B-B298-242F36A60572}"/>
              </a:ext>
            </a:extLst>
          </p:cNvPr>
          <p:cNvSpPr/>
          <p:nvPr/>
        </p:nvSpPr>
        <p:spPr>
          <a:xfrm>
            <a:off x="426720" y="3962400"/>
            <a:ext cx="554736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51A0F49B-5FDB-9D9A-0A2E-7E7930ACE8F4}"/>
              </a:ext>
            </a:extLst>
          </p:cNvPr>
          <p:cNvSpPr/>
          <p:nvPr/>
        </p:nvSpPr>
        <p:spPr>
          <a:xfrm>
            <a:off x="609600" y="3986784"/>
            <a:ext cx="51816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7BA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multi_package.yml</a:t>
            </a:r>
            <a:endParaRPr lang="en-US" sz="1333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2540A3E2-58B5-32DE-6D01-BB634D4F00C4}"/>
              </a:ext>
            </a:extLst>
          </p:cNvPr>
          <p:cNvSpPr/>
          <p:nvPr/>
        </p:nvSpPr>
        <p:spPr>
          <a:xfrm>
            <a:off x="609600" y="4389120"/>
            <a:ext cx="5181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Install system packages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apt: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pkg: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curl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ca-certificates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python3-pip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virtualenv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state: latest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update_cache: yes</a:t>
            </a:r>
            <a:endParaRPr lang="en-US" sz="1467" dirty="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986CE38E-FC04-7109-E21E-8083619D9578}"/>
              </a:ext>
            </a:extLst>
          </p:cNvPr>
          <p:cNvSpPr/>
          <p:nvPr/>
        </p:nvSpPr>
        <p:spPr>
          <a:xfrm>
            <a:off x="6339840" y="1280160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1A2F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apt Parameters</a:t>
            </a:r>
            <a:endParaRPr lang="en-US" sz="2000" dirty="0"/>
          </a:p>
        </p:txBody>
      </p:sp>
      <p:graphicFrame>
        <p:nvGraphicFramePr>
          <p:cNvPr id="15" name="Table 0">
            <a:extLst>
              <a:ext uri="{FF2B5EF4-FFF2-40B4-BE49-F238E27FC236}">
                <a16:creationId xmlns:a16="http://schemas.microsoft.com/office/drawing/2014/main" id="{9E1ED03F-BE7F-2233-59E3-282E831E3A3E}"/>
              </a:ext>
            </a:extLst>
          </p:cNvPr>
          <p:cNvGraphicFramePr>
            <a:graphicFrameLocks noGrp="1"/>
          </p:cNvGraphicFramePr>
          <p:nvPr/>
        </p:nvGraphicFramePr>
        <p:xfrm>
          <a:off x="6217920" y="1828800"/>
          <a:ext cx="5669280" cy="3072384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7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/ pkg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Package name(s) to install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state: latest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&amp; upgrade to newest version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state: present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only if not already present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state: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the package if installed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update_cache: yes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'apt update' before installing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1920" marR="121920" marT="60960" marB="60960">
                    <a:lnL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E6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Text 15">
            <a:extLst>
              <a:ext uri="{FF2B5EF4-FFF2-40B4-BE49-F238E27FC236}">
                <a16:creationId xmlns:a16="http://schemas.microsoft.com/office/drawing/2014/main" id="{FED96DF9-10FE-80D5-6DD3-5FD520AE5DD4}"/>
              </a:ext>
            </a:extLst>
          </p:cNvPr>
          <p:cNvSpPr/>
          <p:nvPr/>
        </p:nvSpPr>
        <p:spPr>
          <a:xfrm>
            <a:off x="6217920" y="5181600"/>
            <a:ext cx="5669280" cy="792480"/>
          </a:xfrm>
          <a:prstGeom prst="rect">
            <a:avLst/>
          </a:prstGeom>
          <a:solidFill>
            <a:srgbClr val="DCEEFB"/>
          </a:solidFill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Note: use pkg: with a list to install many packages in a single task — much faster than separate tasks.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16892201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C6BF3-5EDA-98DD-CAED-A3D726F8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Adding External Repositories — The Docker Example</a:t>
            </a:r>
            <a:br>
              <a:rPr lang="en-US" dirty="0"/>
            </a:br>
            <a:endParaRPr lang="en-KE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EC65CEE5-6AA9-960C-02E5-33D5236F9703}"/>
              </a:ext>
            </a:extLst>
          </p:cNvPr>
          <p:cNvSpPr/>
          <p:nvPr/>
        </p:nvSpPr>
        <p:spPr>
          <a:xfrm>
            <a:off x="487680" y="1280160"/>
            <a:ext cx="1121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software (like Docker) lives outside the default Ubuntu repos.</a:t>
            </a:r>
            <a:endParaRPr lang="en-US" sz="1733" dirty="0"/>
          </a:p>
          <a:p>
            <a:r>
              <a:rPr lang="en-US" sz="1733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must add it safely using a 3-step pattern:</a:t>
            </a:r>
            <a:endParaRPr lang="en-US" sz="1733" dirty="0"/>
          </a:p>
        </p:txBody>
      </p:sp>
      <p:sp>
        <p:nvSpPr>
          <p:cNvPr id="5" name="Text 7">
            <a:extLst>
              <a:ext uri="{FF2B5EF4-FFF2-40B4-BE49-F238E27FC236}">
                <a16:creationId xmlns:a16="http://schemas.microsoft.com/office/drawing/2014/main" id="{E2720A88-9108-C552-764E-5034B0E5EB8A}"/>
              </a:ext>
            </a:extLst>
          </p:cNvPr>
          <p:cNvSpPr/>
          <p:nvPr/>
        </p:nvSpPr>
        <p:spPr>
          <a:xfrm>
            <a:off x="1158240" y="2292096"/>
            <a:ext cx="304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F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GPG Key</a:t>
            </a:r>
            <a:endParaRPr lang="en-US" sz="1733" dirty="0"/>
          </a:p>
        </p:txBody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EBA7D6E8-3908-36E5-2EEE-A3B9F96182FC}"/>
              </a:ext>
            </a:extLst>
          </p:cNvPr>
          <p:cNvSpPr/>
          <p:nvPr/>
        </p:nvSpPr>
        <p:spPr>
          <a:xfrm>
            <a:off x="1158240" y="2840736"/>
            <a:ext cx="353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that packages really come from the vendor.</a:t>
            </a:r>
            <a:endParaRPr lang="en-US" sz="1400" dirty="0"/>
          </a:p>
          <a:p>
            <a:r>
              <a:rPr lang="en-US" sz="14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it, apt will refuse to install from the repo.</a:t>
            </a:r>
            <a:endParaRPr lang="en-US" sz="1400" dirty="0"/>
          </a:p>
        </p:txBody>
      </p:sp>
      <p:sp>
        <p:nvSpPr>
          <p:cNvPr id="7" name="Shape 9">
            <a:extLst>
              <a:ext uri="{FF2B5EF4-FFF2-40B4-BE49-F238E27FC236}">
                <a16:creationId xmlns:a16="http://schemas.microsoft.com/office/drawing/2014/main" id="{10EF6763-A374-14DF-1026-4CA263F9461F}"/>
              </a:ext>
            </a:extLst>
          </p:cNvPr>
          <p:cNvSpPr/>
          <p:nvPr/>
        </p:nvSpPr>
        <p:spPr>
          <a:xfrm>
            <a:off x="4876800" y="2231136"/>
            <a:ext cx="7010400" cy="12801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8" name="Shape 10">
            <a:extLst>
              <a:ext uri="{FF2B5EF4-FFF2-40B4-BE49-F238E27FC236}">
                <a16:creationId xmlns:a16="http://schemas.microsoft.com/office/drawing/2014/main" id="{1B65AB9C-8653-2D08-0BF0-0A3517F9C950}"/>
              </a:ext>
            </a:extLst>
          </p:cNvPr>
          <p:cNvSpPr/>
          <p:nvPr/>
        </p:nvSpPr>
        <p:spPr>
          <a:xfrm>
            <a:off x="4876800" y="2231136"/>
            <a:ext cx="70104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A5D67257-B216-2C84-3C86-43663A55CD6C}"/>
              </a:ext>
            </a:extLst>
          </p:cNvPr>
          <p:cNvSpPr/>
          <p:nvPr/>
        </p:nvSpPr>
        <p:spPr>
          <a:xfrm>
            <a:off x="5059680" y="2255520"/>
            <a:ext cx="6644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7BA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GPG Key</a:t>
            </a:r>
            <a:endParaRPr lang="en-US" sz="1333" dirty="0"/>
          </a:p>
        </p:txBody>
      </p:sp>
      <p:sp>
        <p:nvSpPr>
          <p:cNvPr id="10" name="Text 12">
            <a:extLst>
              <a:ext uri="{FF2B5EF4-FFF2-40B4-BE49-F238E27FC236}">
                <a16:creationId xmlns:a16="http://schemas.microsoft.com/office/drawing/2014/main" id="{369BF2ED-2491-1EFC-E62C-649747C08789}"/>
              </a:ext>
            </a:extLst>
          </p:cNvPr>
          <p:cNvSpPr/>
          <p:nvPr/>
        </p:nvSpPr>
        <p:spPr>
          <a:xfrm>
            <a:off x="5059680" y="2657856"/>
            <a:ext cx="664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apt_key: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url: https://download.docker.com/linux/ubuntu/gpg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state: present</a:t>
            </a:r>
            <a:endParaRPr lang="en-US" sz="1467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2D85517A-23D4-FD2E-E3CA-B55C4D4DA8EC}"/>
              </a:ext>
            </a:extLst>
          </p:cNvPr>
          <p:cNvSpPr/>
          <p:nvPr/>
        </p:nvSpPr>
        <p:spPr>
          <a:xfrm>
            <a:off x="1158240" y="3779520"/>
            <a:ext cx="304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F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Repository</a:t>
            </a:r>
            <a:endParaRPr lang="en-US" sz="1733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4F3C96F4-1C94-58CD-6E73-B3D57E83FBA7}"/>
              </a:ext>
            </a:extLst>
          </p:cNvPr>
          <p:cNvSpPr/>
          <p:nvPr/>
        </p:nvSpPr>
        <p:spPr>
          <a:xfrm>
            <a:off x="1158240" y="4328160"/>
            <a:ext cx="353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apt where to find Docker packages.</a:t>
            </a:r>
            <a:endParaRPr lang="en-US" sz="1400" dirty="0"/>
          </a:p>
          <a:p>
            <a:r>
              <a:rPr lang="en-US" sz="14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to the correct distro codename (jammy = Ubuntu 22.04).</a:t>
            </a:r>
            <a:endParaRPr lang="en-US" sz="1400" dirty="0"/>
          </a:p>
        </p:txBody>
      </p:sp>
      <p:sp>
        <p:nvSpPr>
          <p:cNvPr id="13" name="Shape 17">
            <a:extLst>
              <a:ext uri="{FF2B5EF4-FFF2-40B4-BE49-F238E27FC236}">
                <a16:creationId xmlns:a16="http://schemas.microsoft.com/office/drawing/2014/main" id="{53273A9A-4BF1-0DD9-456D-6EE5663A6EB6}"/>
              </a:ext>
            </a:extLst>
          </p:cNvPr>
          <p:cNvSpPr/>
          <p:nvPr/>
        </p:nvSpPr>
        <p:spPr>
          <a:xfrm>
            <a:off x="4876800" y="3718560"/>
            <a:ext cx="7010400" cy="12801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2BF1A951-3993-F9BB-BD9B-FE189F67A6B4}"/>
              </a:ext>
            </a:extLst>
          </p:cNvPr>
          <p:cNvSpPr/>
          <p:nvPr/>
        </p:nvSpPr>
        <p:spPr>
          <a:xfrm>
            <a:off x="4876800" y="3718560"/>
            <a:ext cx="70104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5" name="Text 19">
            <a:extLst>
              <a:ext uri="{FF2B5EF4-FFF2-40B4-BE49-F238E27FC236}">
                <a16:creationId xmlns:a16="http://schemas.microsoft.com/office/drawing/2014/main" id="{C222AB01-055F-8D39-6840-8FEEECEFC3FF}"/>
              </a:ext>
            </a:extLst>
          </p:cNvPr>
          <p:cNvSpPr/>
          <p:nvPr/>
        </p:nvSpPr>
        <p:spPr>
          <a:xfrm>
            <a:off x="5059680" y="3742944"/>
            <a:ext cx="6644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7BA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Repository</a:t>
            </a:r>
            <a:endParaRPr lang="en-US" sz="1333" dirty="0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A88CB7B6-3088-48CC-8B29-641AB1D70CB5}"/>
              </a:ext>
            </a:extLst>
          </p:cNvPr>
          <p:cNvSpPr/>
          <p:nvPr/>
        </p:nvSpPr>
        <p:spPr>
          <a:xfrm>
            <a:off x="5059680" y="4145280"/>
            <a:ext cx="664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apt_repository: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repo: deb https://download.docker.com/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linux/ubuntu jammy stable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state: present</a:t>
            </a:r>
            <a:endParaRPr lang="en-US" sz="1467" dirty="0"/>
          </a:p>
        </p:txBody>
      </p:sp>
      <p:sp>
        <p:nvSpPr>
          <p:cNvPr id="17" name="Text 23">
            <a:extLst>
              <a:ext uri="{FF2B5EF4-FFF2-40B4-BE49-F238E27FC236}">
                <a16:creationId xmlns:a16="http://schemas.microsoft.com/office/drawing/2014/main" id="{ED74D11D-F15B-A8D4-BD15-9752564411F0}"/>
              </a:ext>
            </a:extLst>
          </p:cNvPr>
          <p:cNvSpPr/>
          <p:nvPr/>
        </p:nvSpPr>
        <p:spPr>
          <a:xfrm>
            <a:off x="1158240" y="5266944"/>
            <a:ext cx="304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1A2F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Install Package</a:t>
            </a:r>
            <a:endParaRPr lang="en-US" sz="1733" dirty="0"/>
          </a:p>
        </p:txBody>
      </p:sp>
      <p:sp>
        <p:nvSpPr>
          <p:cNvPr id="18" name="Text 24">
            <a:extLst>
              <a:ext uri="{FF2B5EF4-FFF2-40B4-BE49-F238E27FC236}">
                <a16:creationId xmlns:a16="http://schemas.microsoft.com/office/drawing/2014/main" id="{2C4102C6-C3F8-0C2C-8EAD-0B5200DB52BF}"/>
              </a:ext>
            </a:extLst>
          </p:cNvPr>
          <p:cNvSpPr/>
          <p:nvPr/>
        </p:nvSpPr>
        <p:spPr>
          <a:xfrm>
            <a:off x="1158240" y="5815584"/>
            <a:ext cx="353568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apt can safely find, verify, and install Docker.</a:t>
            </a:r>
            <a:endParaRPr lang="en-US" sz="1400" dirty="0"/>
          </a:p>
          <a:p>
            <a:r>
              <a:rPr lang="en-US" sz="1400" dirty="0">
                <a:solidFill>
                  <a:srgbClr val="1A2F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 update_cache: yes after adding a new repo.</a:t>
            </a:r>
            <a:endParaRPr lang="en-US" sz="1400" dirty="0"/>
          </a:p>
        </p:txBody>
      </p:sp>
      <p:sp>
        <p:nvSpPr>
          <p:cNvPr id="19" name="Shape 25">
            <a:extLst>
              <a:ext uri="{FF2B5EF4-FFF2-40B4-BE49-F238E27FC236}">
                <a16:creationId xmlns:a16="http://schemas.microsoft.com/office/drawing/2014/main" id="{05A3927D-6D92-8E54-996D-7EA4F39D168E}"/>
              </a:ext>
            </a:extLst>
          </p:cNvPr>
          <p:cNvSpPr/>
          <p:nvPr/>
        </p:nvSpPr>
        <p:spPr>
          <a:xfrm>
            <a:off x="4876800" y="5205984"/>
            <a:ext cx="7010400" cy="1280160"/>
          </a:xfrm>
          <a:prstGeom prst="rect">
            <a:avLst/>
          </a:prstGeom>
          <a:solidFill>
            <a:srgbClr val="0D1117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20" name="Shape 26">
            <a:extLst>
              <a:ext uri="{FF2B5EF4-FFF2-40B4-BE49-F238E27FC236}">
                <a16:creationId xmlns:a16="http://schemas.microsoft.com/office/drawing/2014/main" id="{F7EDC949-94F9-012A-88DD-CEF771A633FF}"/>
              </a:ext>
            </a:extLst>
          </p:cNvPr>
          <p:cNvSpPr/>
          <p:nvPr/>
        </p:nvSpPr>
        <p:spPr>
          <a:xfrm>
            <a:off x="4876800" y="5205984"/>
            <a:ext cx="7010400" cy="365760"/>
          </a:xfrm>
          <a:prstGeom prst="rect">
            <a:avLst/>
          </a:prstGeom>
          <a:solidFill>
            <a:srgbClr val="161B22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21" name="Text 27">
            <a:extLst>
              <a:ext uri="{FF2B5EF4-FFF2-40B4-BE49-F238E27FC236}">
                <a16:creationId xmlns:a16="http://schemas.microsoft.com/office/drawing/2014/main" id="{CA0C8DB5-9C35-2CCF-24CD-960979C8A7CD}"/>
              </a:ext>
            </a:extLst>
          </p:cNvPr>
          <p:cNvSpPr/>
          <p:nvPr/>
        </p:nvSpPr>
        <p:spPr>
          <a:xfrm>
            <a:off x="5059680" y="5230368"/>
            <a:ext cx="664464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7BAE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Install Package</a:t>
            </a:r>
            <a:endParaRPr lang="en-US" sz="1333" dirty="0"/>
          </a:p>
        </p:txBody>
      </p:sp>
      <p:sp>
        <p:nvSpPr>
          <p:cNvPr id="22" name="Text 28">
            <a:extLst>
              <a:ext uri="{FF2B5EF4-FFF2-40B4-BE49-F238E27FC236}">
                <a16:creationId xmlns:a16="http://schemas.microsoft.com/office/drawing/2014/main" id="{5A8B46E6-B7FF-C4DD-E1BE-41F213B75BD1}"/>
              </a:ext>
            </a:extLst>
          </p:cNvPr>
          <p:cNvSpPr/>
          <p:nvPr/>
        </p:nvSpPr>
        <p:spPr>
          <a:xfrm>
            <a:off x="5059680" y="5632704"/>
            <a:ext cx="664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apt: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name: docker-ce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state: latest</a:t>
            </a:r>
            <a:endParaRPr lang="en-US" sz="1467" dirty="0"/>
          </a:p>
          <a:p>
            <a:r>
              <a:rPr lang="en-US" sz="1467" dirty="0">
                <a:solidFill>
                  <a:srgbClr val="FFD1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update_cache: yes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4074306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D79F0-B678-BEEB-FB7C-E768157E5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Capturing Output with register:</a:t>
            </a:r>
            <a:br>
              <a:rPr lang="en-US" dirty="0"/>
            </a:br>
            <a:endParaRPr lang="en-KE" dirty="0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F14E499-BE86-803A-7DD8-51072F56E193}"/>
              </a:ext>
            </a:extLst>
          </p:cNvPr>
          <p:cNvSpPr/>
          <p:nvPr/>
        </p:nvSpPr>
        <p:spPr>
          <a:xfrm>
            <a:off x="487680" y="1182624"/>
            <a:ext cx="11216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register: saves a task's result into a named variable so later tasks can read it.</a:t>
            </a:r>
            <a:endParaRPr lang="en-US" sz="1733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C023613F-076A-48F4-3426-DA13D849953B}"/>
              </a:ext>
            </a:extLst>
          </p:cNvPr>
          <p:cNvSpPr/>
          <p:nvPr/>
        </p:nvSpPr>
        <p:spPr>
          <a:xfrm>
            <a:off x="487680" y="1889760"/>
            <a:ext cx="11277600" cy="2291793"/>
          </a:xfrm>
          <a:prstGeom prst="rect">
            <a:avLst/>
          </a:prstGeom>
          <a:solidFill>
            <a:schemeClr val="tx1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KE" sz="2400" dirty="0">
              <a:solidFill>
                <a:srgbClr val="FFC000"/>
              </a:solidFill>
            </a:endParaRP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5D3DB76E-DE77-08F0-4361-5DAFC07FA958}"/>
              </a:ext>
            </a:extLst>
          </p:cNvPr>
          <p:cNvSpPr/>
          <p:nvPr/>
        </p:nvSpPr>
        <p:spPr>
          <a:xfrm>
            <a:off x="609600" y="1914144"/>
            <a:ext cx="1097280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register_example.yml</a:t>
            </a:r>
            <a:endParaRPr lang="en-US" sz="1333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CA8A9FF2-3D0D-E502-8431-9CC86CC51E2B}"/>
              </a:ext>
            </a:extLst>
          </p:cNvPr>
          <p:cNvSpPr/>
          <p:nvPr/>
        </p:nvSpPr>
        <p:spPr>
          <a:xfrm>
            <a:off x="609600" y="2316480"/>
            <a:ext cx="10972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Check Docker version</a:t>
            </a:r>
            <a:endParaRPr lang="en-US" sz="1467" dirty="0">
              <a:solidFill>
                <a:srgbClr val="FFC000"/>
              </a:solidFill>
            </a:endParaRPr>
          </a:p>
          <a:p>
            <a:r>
              <a:rPr lang="en-US" sz="1467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command: docker --version</a:t>
            </a:r>
            <a:endParaRPr lang="en-US" sz="1467" dirty="0">
              <a:solidFill>
                <a:srgbClr val="FFC000"/>
              </a:solidFill>
            </a:endParaRPr>
          </a:p>
          <a:p>
            <a:r>
              <a:rPr lang="en-US" sz="1467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register: docker_version        # &lt;- result stored here</a:t>
            </a:r>
            <a:endParaRPr lang="en-US" sz="1467" dirty="0">
              <a:solidFill>
                <a:srgbClr val="FFC000"/>
              </a:solidFill>
            </a:endParaRPr>
          </a:p>
          <a:p>
            <a:endParaRPr lang="en-US" sz="1467" dirty="0">
              <a:solidFill>
                <a:srgbClr val="FFC000"/>
              </a:solidFill>
            </a:endParaRPr>
          </a:p>
          <a:p>
            <a:r>
              <a:rPr lang="en-US" sz="1467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Display the version</a:t>
            </a:r>
            <a:endParaRPr lang="en-US" sz="1467" dirty="0">
              <a:solidFill>
                <a:srgbClr val="FFC000"/>
              </a:solidFill>
            </a:endParaRPr>
          </a:p>
          <a:p>
            <a:r>
              <a:rPr lang="en-US" sz="1467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debug:</a:t>
            </a:r>
            <a:endParaRPr lang="en-US" sz="1467" dirty="0">
              <a:solidFill>
                <a:srgbClr val="FFC000"/>
              </a:solidFill>
            </a:endParaRPr>
          </a:p>
          <a:p>
            <a:r>
              <a:rPr lang="en-US" sz="1467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msg: "Docker version: {{ docker_version.stdout }}"</a:t>
            </a:r>
            <a:endParaRPr lang="en-US" sz="1467" dirty="0">
              <a:solidFill>
                <a:srgbClr val="FFC000"/>
              </a:solidFill>
            </a:endParaRPr>
          </a:p>
          <a:p>
            <a:r>
              <a:rPr lang="en-US" sz="1467" dirty="0">
                <a:solidFill>
                  <a:srgbClr val="FFC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when: docker_version is defined and docker_version.stdout is defined</a:t>
            </a:r>
            <a:endParaRPr lang="en-US" sz="1467" dirty="0">
              <a:solidFill>
                <a:srgbClr val="FFC000"/>
              </a:solidFill>
            </a:endParaRPr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7FF7AA10-2CCC-9651-AE07-D5EE47FD55BA}"/>
              </a:ext>
            </a:extLst>
          </p:cNvPr>
          <p:cNvSpPr/>
          <p:nvPr/>
        </p:nvSpPr>
        <p:spPr>
          <a:xfrm>
            <a:off x="487680" y="4114801"/>
            <a:ext cx="1121664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What's inside a registered variable?</a:t>
            </a:r>
            <a:endParaRPr lang="en-US" sz="1867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A298EFD3-2C5F-638F-AE25-A544AA8E35B6}"/>
              </a:ext>
            </a:extLst>
          </p:cNvPr>
          <p:cNvSpPr/>
          <p:nvPr/>
        </p:nvSpPr>
        <p:spPr>
          <a:xfrm>
            <a:off x="426720" y="4572000"/>
            <a:ext cx="5608320" cy="512064"/>
          </a:xfrm>
          <a:prstGeom prst="rect">
            <a:avLst/>
          </a:prstGeom>
          <a:solidFill>
            <a:schemeClr val="bg1"/>
          </a:solidFill>
          <a:ln w="12700">
            <a:solidFill>
              <a:srgbClr val="0E1F38"/>
            </a:solidFill>
            <a:prstDash val="solid"/>
          </a:ln>
        </p:spPr>
        <p:txBody>
          <a:bodyPr/>
          <a:lstStyle/>
          <a:p>
            <a:endParaRPr lang="en-KE" sz="2400" dirty="0">
              <a:solidFill>
                <a:srgbClr val="FFC000"/>
              </a:solidFill>
            </a:endParaRPr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C1572566-980C-8DA5-FAAE-1E5DFBEA86F4}"/>
              </a:ext>
            </a:extLst>
          </p:cNvPr>
          <p:cNvSpPr/>
          <p:nvPr/>
        </p:nvSpPr>
        <p:spPr>
          <a:xfrm>
            <a:off x="548640" y="4572000"/>
            <a:ext cx="188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.stdout</a:t>
            </a:r>
            <a:endParaRPr lang="en-US" sz="1600" dirty="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139D6E44-2695-497E-AAD8-BC5F02DD5298}"/>
              </a:ext>
            </a:extLst>
          </p:cNvPr>
          <p:cNvSpPr/>
          <p:nvPr/>
        </p:nvSpPr>
        <p:spPr>
          <a:xfrm>
            <a:off x="2499360" y="4572000"/>
            <a:ext cx="341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Standard output text from the command</a:t>
            </a:r>
            <a:endParaRPr lang="en-US" sz="1467" dirty="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1622929-89CB-5C07-70E2-15574DDA8404}"/>
              </a:ext>
            </a:extLst>
          </p:cNvPr>
          <p:cNvSpPr/>
          <p:nvPr/>
        </p:nvSpPr>
        <p:spPr>
          <a:xfrm>
            <a:off x="6278880" y="4572000"/>
            <a:ext cx="5608320" cy="512064"/>
          </a:xfrm>
          <a:prstGeom prst="rect">
            <a:avLst/>
          </a:prstGeom>
          <a:solidFill>
            <a:schemeClr val="bg1"/>
          </a:solidFill>
          <a:ln w="12700">
            <a:solidFill>
              <a:srgbClr val="0E1F38"/>
            </a:solidFill>
            <a:prstDash val="solid"/>
          </a:ln>
        </p:spPr>
        <p:txBody>
          <a:bodyPr/>
          <a:lstStyle/>
          <a:p>
            <a:endParaRPr lang="en-KE" sz="2400">
              <a:solidFill>
                <a:srgbClr val="FFC000"/>
              </a:solidFill>
            </a:endParaRPr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2EE5C5A8-E970-D888-2450-5E9F099343C3}"/>
              </a:ext>
            </a:extLst>
          </p:cNvPr>
          <p:cNvSpPr/>
          <p:nvPr/>
        </p:nvSpPr>
        <p:spPr>
          <a:xfrm>
            <a:off x="6400800" y="4572000"/>
            <a:ext cx="188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.stderr</a:t>
            </a:r>
            <a:endParaRPr lang="en-US" sz="1600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F43C5A79-74DC-D469-1385-7CAF36B7A6BF}"/>
              </a:ext>
            </a:extLst>
          </p:cNvPr>
          <p:cNvSpPr/>
          <p:nvPr/>
        </p:nvSpPr>
        <p:spPr>
          <a:xfrm>
            <a:off x="8351520" y="4572000"/>
            <a:ext cx="341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Error output text (if any)</a:t>
            </a:r>
            <a:endParaRPr lang="en-US" sz="1467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7E4605F7-111C-951D-3B21-4457DB183AF4}"/>
              </a:ext>
            </a:extLst>
          </p:cNvPr>
          <p:cNvSpPr/>
          <p:nvPr/>
        </p:nvSpPr>
        <p:spPr>
          <a:xfrm>
            <a:off x="426720" y="5181600"/>
            <a:ext cx="5608320" cy="512064"/>
          </a:xfrm>
          <a:prstGeom prst="rect">
            <a:avLst/>
          </a:prstGeom>
          <a:solidFill>
            <a:schemeClr val="bg1"/>
          </a:solidFill>
          <a:ln w="12700">
            <a:solidFill>
              <a:srgbClr val="0E1F38"/>
            </a:solidFill>
            <a:prstDash val="solid"/>
          </a:ln>
        </p:spPr>
        <p:txBody>
          <a:bodyPr/>
          <a:lstStyle/>
          <a:p>
            <a:endParaRPr lang="en-KE" sz="2400" dirty="0">
              <a:solidFill>
                <a:srgbClr val="FFC000"/>
              </a:solidFill>
            </a:endParaRPr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67A30E54-E7AF-C605-ED13-963A9D129B3F}"/>
              </a:ext>
            </a:extLst>
          </p:cNvPr>
          <p:cNvSpPr/>
          <p:nvPr/>
        </p:nvSpPr>
        <p:spPr>
          <a:xfrm>
            <a:off x="548640" y="5181600"/>
            <a:ext cx="188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.rc</a:t>
            </a:r>
            <a:endParaRPr lang="en-US" sz="1600" dirty="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BE1EFF2E-93BD-D6DE-EF01-08817D015FBE}"/>
              </a:ext>
            </a:extLst>
          </p:cNvPr>
          <p:cNvSpPr/>
          <p:nvPr/>
        </p:nvSpPr>
        <p:spPr>
          <a:xfrm>
            <a:off x="2499360" y="5181600"/>
            <a:ext cx="341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Return code: 0 = success, non-zero = failure</a:t>
            </a:r>
            <a:endParaRPr lang="en-US" sz="1467" dirty="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B41F37A3-9A90-793C-F022-445684F0E1D4}"/>
              </a:ext>
            </a:extLst>
          </p:cNvPr>
          <p:cNvSpPr/>
          <p:nvPr/>
        </p:nvSpPr>
        <p:spPr>
          <a:xfrm>
            <a:off x="6278880" y="5181600"/>
            <a:ext cx="5608320" cy="512064"/>
          </a:xfrm>
          <a:prstGeom prst="rect">
            <a:avLst/>
          </a:prstGeom>
          <a:solidFill>
            <a:schemeClr val="bg1"/>
          </a:solidFill>
          <a:ln w="12700">
            <a:solidFill>
              <a:srgbClr val="0E1F38"/>
            </a:solidFill>
            <a:prstDash val="solid"/>
          </a:ln>
        </p:spPr>
        <p:txBody>
          <a:bodyPr/>
          <a:lstStyle/>
          <a:p>
            <a:endParaRPr lang="en-KE" sz="2400">
              <a:solidFill>
                <a:srgbClr val="FFC000"/>
              </a:solidFill>
            </a:endParaRPr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B2E7EFDA-98BB-2535-DADC-8789DFD02F3F}"/>
              </a:ext>
            </a:extLst>
          </p:cNvPr>
          <p:cNvSpPr/>
          <p:nvPr/>
        </p:nvSpPr>
        <p:spPr>
          <a:xfrm>
            <a:off x="6400800" y="5181600"/>
            <a:ext cx="188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.stdout_lines</a:t>
            </a:r>
            <a:endParaRPr lang="en-US" sz="16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605B9950-47B1-F744-9345-40B2DBA5CA07}"/>
              </a:ext>
            </a:extLst>
          </p:cNvPr>
          <p:cNvSpPr/>
          <p:nvPr/>
        </p:nvSpPr>
        <p:spPr>
          <a:xfrm>
            <a:off x="8351520" y="5181600"/>
            <a:ext cx="341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stdout split into a list, one item per line</a:t>
            </a:r>
            <a:endParaRPr lang="en-US" sz="1467" dirty="0"/>
          </a:p>
        </p:txBody>
      </p:sp>
      <p:sp>
        <p:nvSpPr>
          <p:cNvPr id="22" name="Shape 22">
            <a:extLst>
              <a:ext uri="{FF2B5EF4-FFF2-40B4-BE49-F238E27FC236}">
                <a16:creationId xmlns:a16="http://schemas.microsoft.com/office/drawing/2014/main" id="{607DCF54-1DC3-407A-4F9C-3CB71D5E1B42}"/>
              </a:ext>
            </a:extLst>
          </p:cNvPr>
          <p:cNvSpPr/>
          <p:nvPr/>
        </p:nvSpPr>
        <p:spPr>
          <a:xfrm>
            <a:off x="426720" y="5791200"/>
            <a:ext cx="5608320" cy="512064"/>
          </a:xfrm>
          <a:prstGeom prst="rect">
            <a:avLst/>
          </a:prstGeom>
          <a:solidFill>
            <a:schemeClr val="bg1"/>
          </a:solidFill>
          <a:ln w="12700">
            <a:solidFill>
              <a:srgbClr val="0E1F38"/>
            </a:solidFill>
            <a:prstDash val="solid"/>
          </a:ln>
        </p:spPr>
        <p:txBody>
          <a:bodyPr/>
          <a:lstStyle/>
          <a:p>
            <a:endParaRPr lang="en-KE" sz="2400" dirty="0">
              <a:solidFill>
                <a:srgbClr val="FFC000"/>
              </a:solidFill>
            </a:endParaRPr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B323A4F5-774F-3297-37D8-9B04B7004C1F}"/>
              </a:ext>
            </a:extLst>
          </p:cNvPr>
          <p:cNvSpPr/>
          <p:nvPr/>
        </p:nvSpPr>
        <p:spPr>
          <a:xfrm>
            <a:off x="548640" y="5791200"/>
            <a:ext cx="188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.failed</a:t>
            </a:r>
            <a:endParaRPr lang="en-US" sz="1600" dirty="0"/>
          </a:p>
        </p:txBody>
      </p:sp>
      <p:sp>
        <p:nvSpPr>
          <p:cNvPr id="24" name="Text 24">
            <a:extLst>
              <a:ext uri="{FF2B5EF4-FFF2-40B4-BE49-F238E27FC236}">
                <a16:creationId xmlns:a16="http://schemas.microsoft.com/office/drawing/2014/main" id="{5FFCDBE7-B328-F834-A823-CD7349F3E859}"/>
              </a:ext>
            </a:extLst>
          </p:cNvPr>
          <p:cNvSpPr/>
          <p:nvPr/>
        </p:nvSpPr>
        <p:spPr>
          <a:xfrm>
            <a:off x="2499360" y="5791200"/>
            <a:ext cx="341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Boolean: true if the task reported failure</a:t>
            </a:r>
            <a:endParaRPr lang="en-US" sz="1467" dirty="0"/>
          </a:p>
        </p:txBody>
      </p:sp>
      <p:sp>
        <p:nvSpPr>
          <p:cNvPr id="25" name="Shape 25">
            <a:extLst>
              <a:ext uri="{FF2B5EF4-FFF2-40B4-BE49-F238E27FC236}">
                <a16:creationId xmlns:a16="http://schemas.microsoft.com/office/drawing/2014/main" id="{0080EAE5-181B-5AF5-FA9A-B1FBE89A3288}"/>
              </a:ext>
            </a:extLst>
          </p:cNvPr>
          <p:cNvSpPr/>
          <p:nvPr/>
        </p:nvSpPr>
        <p:spPr>
          <a:xfrm>
            <a:off x="6278880" y="5791200"/>
            <a:ext cx="5608320" cy="512064"/>
          </a:xfrm>
          <a:prstGeom prst="rect">
            <a:avLst/>
          </a:prstGeom>
          <a:solidFill>
            <a:schemeClr val="bg1"/>
          </a:solidFill>
          <a:ln w="12700">
            <a:solidFill>
              <a:srgbClr val="0E1F38"/>
            </a:solidFill>
            <a:prstDash val="solid"/>
          </a:ln>
        </p:spPr>
        <p:txBody>
          <a:bodyPr/>
          <a:lstStyle/>
          <a:p>
            <a:endParaRPr lang="en-KE" sz="2400">
              <a:solidFill>
                <a:srgbClr val="FFC000"/>
              </a:solidFill>
            </a:endParaRPr>
          </a:p>
        </p:txBody>
      </p:sp>
      <p:sp>
        <p:nvSpPr>
          <p:cNvPr id="26" name="Text 26">
            <a:extLst>
              <a:ext uri="{FF2B5EF4-FFF2-40B4-BE49-F238E27FC236}">
                <a16:creationId xmlns:a16="http://schemas.microsoft.com/office/drawing/2014/main" id="{2B3E0802-5F07-6E1F-BCED-C99F05FFADF5}"/>
              </a:ext>
            </a:extLst>
          </p:cNvPr>
          <p:cNvSpPr/>
          <p:nvPr/>
        </p:nvSpPr>
        <p:spPr>
          <a:xfrm>
            <a:off x="6400800" y="5791200"/>
            <a:ext cx="1889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.changed</a:t>
            </a:r>
            <a:endParaRPr lang="en-US" sz="1600" dirty="0"/>
          </a:p>
        </p:txBody>
      </p:sp>
      <p:sp>
        <p:nvSpPr>
          <p:cNvPr id="27" name="Text 27">
            <a:extLst>
              <a:ext uri="{FF2B5EF4-FFF2-40B4-BE49-F238E27FC236}">
                <a16:creationId xmlns:a16="http://schemas.microsoft.com/office/drawing/2014/main" id="{DECD9FCB-B17D-CE0B-88D7-0D04ED860E10}"/>
              </a:ext>
            </a:extLst>
          </p:cNvPr>
          <p:cNvSpPr/>
          <p:nvPr/>
        </p:nvSpPr>
        <p:spPr>
          <a:xfrm>
            <a:off x="8351520" y="5791200"/>
            <a:ext cx="341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Boolean: true if the task changed something</a:t>
            </a:r>
            <a:endParaRPr lang="en-US" sz="1467" dirty="0"/>
          </a:p>
        </p:txBody>
      </p:sp>
    </p:spTree>
    <p:extLst>
      <p:ext uri="{BB962C8B-B14F-4D97-AF65-F5344CB8AC3E}">
        <p14:creationId xmlns:p14="http://schemas.microsoft.com/office/powerpoint/2010/main" val="1257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0EF09-A507-6734-8F81-A7095585E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231229"/>
            <a:ext cx="10927080" cy="670560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  <a:ea typeface="Trebuchet MS" pitchFamily="34" charset="-122"/>
                <a:cs typeface="Trebuchet MS" pitchFamily="34" charset="-120"/>
              </a:rPr>
              <a:t>Jinja2 Templating — Dynamic Values in Playbooks</a:t>
            </a:r>
            <a:br>
              <a:rPr lang="en-US" dirty="0">
                <a:latin typeface="+mn-lt"/>
              </a:rPr>
            </a:br>
            <a:endParaRPr lang="en-KE" dirty="0">
              <a:latin typeface="+mn-lt"/>
            </a:endParaRPr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CCA53996-C975-A0AB-E80F-C065AB509918}"/>
              </a:ext>
            </a:extLst>
          </p:cNvPr>
          <p:cNvSpPr/>
          <p:nvPr/>
        </p:nvSpPr>
        <p:spPr>
          <a:xfrm>
            <a:off x="426720" y="1072896"/>
            <a:ext cx="11216640" cy="67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Ansible uses Jinja2, a Python templating language, to inject dynamic data into tasks, messages, and config files at runtime.</a:t>
            </a:r>
            <a:endParaRPr lang="en-US" sz="1733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DBB2571-6B81-8789-DAED-3FDBB548C681}"/>
              </a:ext>
            </a:extLst>
          </p:cNvPr>
          <p:cNvSpPr/>
          <p:nvPr/>
        </p:nvSpPr>
        <p:spPr>
          <a:xfrm>
            <a:off x="426720" y="2072640"/>
            <a:ext cx="11338560" cy="975360"/>
          </a:xfrm>
          <a:prstGeom prst="rect">
            <a:avLst/>
          </a:prstGeom>
          <a:solidFill>
            <a:schemeClr val="bg1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E4C469BE-9012-776E-1BC2-7FAF9DC3EB2C}"/>
              </a:ext>
            </a:extLst>
          </p:cNvPr>
          <p:cNvSpPr/>
          <p:nvPr/>
        </p:nvSpPr>
        <p:spPr>
          <a:xfrm>
            <a:off x="1828800" y="2072640"/>
            <a:ext cx="975360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b="1" dirty="0"/>
              <a:t>{{ variable_name }}</a:t>
            </a:r>
            <a:r>
              <a:rPr lang="en-US" sz="2133" dirty="0"/>
              <a:t>    ← replaced with its value at runtime</a:t>
            </a:r>
            <a:endParaRPr lang="en-US" sz="3733" dirty="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42D0DC71-E834-82B2-BA8B-FBD71C46275F}"/>
              </a:ext>
            </a:extLst>
          </p:cNvPr>
          <p:cNvSpPr/>
          <p:nvPr/>
        </p:nvSpPr>
        <p:spPr>
          <a:xfrm>
            <a:off x="487680" y="3230880"/>
            <a:ext cx="11216640" cy="463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you'll use {{ }}</a:t>
            </a:r>
            <a:endParaRPr lang="en-US" sz="1867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C5B550F4-62F2-F78A-6FC5-4B67799107CE}"/>
              </a:ext>
            </a:extLst>
          </p:cNvPr>
          <p:cNvSpPr/>
          <p:nvPr/>
        </p:nvSpPr>
        <p:spPr>
          <a:xfrm>
            <a:off x="426720" y="3779520"/>
            <a:ext cx="5608320" cy="12801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8EDBD74-F728-B9B7-C9C2-79777A1EDA81}"/>
              </a:ext>
            </a:extLst>
          </p:cNvPr>
          <p:cNvSpPr/>
          <p:nvPr/>
        </p:nvSpPr>
        <p:spPr>
          <a:xfrm>
            <a:off x="426720" y="3779520"/>
            <a:ext cx="73152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0" name="Text 10">
            <a:extLst>
              <a:ext uri="{FF2B5EF4-FFF2-40B4-BE49-F238E27FC236}">
                <a16:creationId xmlns:a16="http://schemas.microsoft.com/office/drawing/2014/main" id="{F2A4BF9B-8A14-50B0-7133-19937F4EA222}"/>
              </a:ext>
            </a:extLst>
          </p:cNvPr>
          <p:cNvSpPr/>
          <p:nvPr/>
        </p:nvSpPr>
        <p:spPr>
          <a:xfrm>
            <a:off x="670560" y="3852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Print command output</a:t>
            </a:r>
            <a:endParaRPr lang="en-US" sz="1467" dirty="0"/>
          </a:p>
        </p:txBody>
      </p:sp>
      <p:sp>
        <p:nvSpPr>
          <p:cNvPr id="11" name="Text 11">
            <a:extLst>
              <a:ext uri="{FF2B5EF4-FFF2-40B4-BE49-F238E27FC236}">
                <a16:creationId xmlns:a16="http://schemas.microsoft.com/office/drawing/2014/main" id="{736F3EB6-3248-9ACD-AABF-E608DD262AE1}"/>
              </a:ext>
            </a:extLst>
          </p:cNvPr>
          <p:cNvSpPr/>
          <p:nvPr/>
        </p:nvSpPr>
        <p:spPr>
          <a:xfrm>
            <a:off x="670560" y="4267200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msg: "Docker version: {{ docker_version.stdout }}"</a:t>
            </a:r>
            <a:endParaRPr lang="en-US" sz="1400" dirty="0"/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D7C278C5-76C3-79A2-48F5-45F6AB928433}"/>
              </a:ext>
            </a:extLst>
          </p:cNvPr>
          <p:cNvSpPr/>
          <p:nvPr/>
        </p:nvSpPr>
        <p:spPr>
          <a:xfrm>
            <a:off x="6278880" y="3779520"/>
            <a:ext cx="5608320" cy="12801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6E5423A0-6B38-91E4-B6D4-324E484A839B}"/>
              </a:ext>
            </a:extLst>
          </p:cNvPr>
          <p:cNvSpPr/>
          <p:nvPr/>
        </p:nvSpPr>
        <p:spPr>
          <a:xfrm>
            <a:off x="6278880" y="3779520"/>
            <a:ext cx="73152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4" name="Text 14">
            <a:extLst>
              <a:ext uri="{FF2B5EF4-FFF2-40B4-BE49-F238E27FC236}">
                <a16:creationId xmlns:a16="http://schemas.microsoft.com/office/drawing/2014/main" id="{272B4208-A5AD-046E-EF32-6E22C94E7080}"/>
              </a:ext>
            </a:extLst>
          </p:cNvPr>
          <p:cNvSpPr/>
          <p:nvPr/>
        </p:nvSpPr>
        <p:spPr>
          <a:xfrm>
            <a:off x="6522720" y="38526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install</a:t>
            </a:r>
            <a:endParaRPr lang="en-US" sz="1467" dirty="0"/>
          </a:p>
        </p:txBody>
      </p:sp>
      <p:sp>
        <p:nvSpPr>
          <p:cNvPr id="15" name="Text 15">
            <a:extLst>
              <a:ext uri="{FF2B5EF4-FFF2-40B4-BE49-F238E27FC236}">
                <a16:creationId xmlns:a16="http://schemas.microsoft.com/office/drawing/2014/main" id="{F67E620E-61B9-C3B7-094A-CE600074C36B}"/>
              </a:ext>
            </a:extLst>
          </p:cNvPr>
          <p:cNvSpPr/>
          <p:nvPr/>
        </p:nvSpPr>
        <p:spPr>
          <a:xfrm>
            <a:off x="6522720" y="4267200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when: ansible_os_family == "Debian"</a:t>
            </a:r>
            <a:endParaRPr lang="en-US" sz="1400" dirty="0"/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6B04A8E3-9A4E-3EA3-D0DE-DE5842F3A481}"/>
              </a:ext>
            </a:extLst>
          </p:cNvPr>
          <p:cNvSpPr/>
          <p:nvPr/>
        </p:nvSpPr>
        <p:spPr>
          <a:xfrm>
            <a:off x="426720" y="5181600"/>
            <a:ext cx="5608320" cy="12801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16C3FE7D-A177-5E62-54B1-495D7E6DADF8}"/>
              </a:ext>
            </a:extLst>
          </p:cNvPr>
          <p:cNvSpPr/>
          <p:nvPr/>
        </p:nvSpPr>
        <p:spPr>
          <a:xfrm>
            <a:off x="426720" y="5181600"/>
            <a:ext cx="73152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8" name="Text 18">
            <a:extLst>
              <a:ext uri="{FF2B5EF4-FFF2-40B4-BE49-F238E27FC236}">
                <a16:creationId xmlns:a16="http://schemas.microsoft.com/office/drawing/2014/main" id="{7623C3C5-BA39-1A6A-1852-B045EF30BD04}"/>
              </a:ext>
            </a:extLst>
          </p:cNvPr>
          <p:cNvSpPr/>
          <p:nvPr/>
        </p:nvSpPr>
        <p:spPr>
          <a:xfrm>
            <a:off x="670560" y="52547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In a config file (.j2)</a:t>
            </a:r>
            <a:endParaRPr lang="en-US" sz="1467" dirty="0"/>
          </a:p>
        </p:txBody>
      </p:sp>
      <p:sp>
        <p:nvSpPr>
          <p:cNvPr id="19" name="Text 19">
            <a:extLst>
              <a:ext uri="{FF2B5EF4-FFF2-40B4-BE49-F238E27FC236}">
                <a16:creationId xmlns:a16="http://schemas.microsoft.com/office/drawing/2014/main" id="{D1BD6E08-0178-093C-F01C-4AB7DAB3949E}"/>
              </a:ext>
            </a:extLst>
          </p:cNvPr>
          <p:cNvSpPr/>
          <p:nvPr/>
        </p:nvSpPr>
        <p:spPr>
          <a:xfrm>
            <a:off x="670560" y="5669280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bind-address = {{ db_host }}</a:t>
            </a:r>
            <a:endParaRPr lang="en-US" sz="1400" dirty="0"/>
          </a:p>
          <a:p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port = {{ db_port }}</a:t>
            </a:r>
            <a:endParaRPr lang="en-US" sz="1400" dirty="0"/>
          </a:p>
        </p:txBody>
      </p:sp>
      <p:sp>
        <p:nvSpPr>
          <p:cNvPr id="20" name="Shape 20">
            <a:extLst>
              <a:ext uri="{FF2B5EF4-FFF2-40B4-BE49-F238E27FC236}">
                <a16:creationId xmlns:a16="http://schemas.microsoft.com/office/drawing/2014/main" id="{C93FDE4C-9D76-A6E2-E698-8290BA1A85FC}"/>
              </a:ext>
            </a:extLst>
          </p:cNvPr>
          <p:cNvSpPr/>
          <p:nvPr/>
        </p:nvSpPr>
        <p:spPr>
          <a:xfrm>
            <a:off x="6278880" y="5181600"/>
            <a:ext cx="5608320" cy="1280160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FE291AF3-50FD-371D-7D8A-A1F7B2140B62}"/>
              </a:ext>
            </a:extLst>
          </p:cNvPr>
          <p:cNvSpPr/>
          <p:nvPr/>
        </p:nvSpPr>
        <p:spPr>
          <a:xfrm>
            <a:off x="6278880" y="5181600"/>
            <a:ext cx="73152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9BA21025-6FF2-C7F5-64E0-5741F0384ACB}"/>
              </a:ext>
            </a:extLst>
          </p:cNvPr>
          <p:cNvSpPr/>
          <p:nvPr/>
        </p:nvSpPr>
        <p:spPr>
          <a:xfrm>
            <a:off x="6522720" y="525475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Loop over a list</a:t>
            </a:r>
            <a:endParaRPr lang="en-US" sz="1467" dirty="0"/>
          </a:p>
        </p:txBody>
      </p:sp>
      <p:sp>
        <p:nvSpPr>
          <p:cNvPr id="23" name="Text 23">
            <a:extLst>
              <a:ext uri="{FF2B5EF4-FFF2-40B4-BE49-F238E27FC236}">
                <a16:creationId xmlns:a16="http://schemas.microsoft.com/office/drawing/2014/main" id="{C98FDCDE-9E2C-7264-C739-57501A95D086}"/>
              </a:ext>
            </a:extLst>
          </p:cNvPr>
          <p:cNvSpPr/>
          <p:nvPr/>
        </p:nvSpPr>
        <p:spPr>
          <a:xfrm>
            <a:off x="6522720" y="5669280"/>
            <a:ext cx="51206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with_items: "{{ packages_list }}"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900527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chemeClr val="bg1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3" name="Shape 1"/>
          <p:cNvSpPr/>
          <p:nvPr/>
        </p:nvSpPr>
        <p:spPr>
          <a:xfrm>
            <a:off x="0" y="1036320"/>
            <a:ext cx="12192000" cy="60960"/>
          </a:xfrm>
          <a:prstGeom prst="rect">
            <a:avLst/>
          </a:prstGeom>
          <a:solidFill>
            <a:schemeClr val="bg1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4" name="Text 2"/>
          <p:cNvSpPr/>
          <p:nvPr/>
        </p:nvSpPr>
        <p:spPr>
          <a:xfrm>
            <a:off x="426720" y="0"/>
            <a:ext cx="10972800" cy="1036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4400" b="1" dirty="0">
                <a:ea typeface="Trebuchet MS" pitchFamily="34" charset="-122"/>
                <a:cs typeface="Trebuchet MS" pitchFamily="34" charset="-120"/>
              </a:rPr>
              <a:t>Conditional Execution with when: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728960" y="6339840"/>
            <a:ext cx="109728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algn="r"/>
            <a:r>
              <a:rPr lang="en-US" sz="1333" dirty="0"/>
              <a:t>9 / 12</a:t>
            </a: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5486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en-US" sz="1733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when: prevents tasks from running unless a condition is true — avoiding errors on missing or undefined data.</a:t>
            </a:r>
            <a:endParaRPr lang="en-US" sz="1733" dirty="0"/>
          </a:p>
        </p:txBody>
      </p:sp>
      <p:sp>
        <p:nvSpPr>
          <p:cNvPr id="7" name="Shape 5"/>
          <p:cNvSpPr/>
          <p:nvPr/>
        </p:nvSpPr>
        <p:spPr>
          <a:xfrm>
            <a:off x="426720" y="1926336"/>
            <a:ext cx="11338560" cy="1950720"/>
          </a:xfrm>
          <a:prstGeom prst="rect">
            <a:avLst/>
          </a:prstGeom>
          <a:solidFill>
            <a:schemeClr val="bg1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8" name="Shape 6"/>
          <p:cNvSpPr/>
          <p:nvPr/>
        </p:nvSpPr>
        <p:spPr>
          <a:xfrm>
            <a:off x="426720" y="1926336"/>
            <a:ext cx="11338560" cy="365760"/>
          </a:xfrm>
          <a:prstGeom prst="rect">
            <a:avLst/>
          </a:prstGeom>
          <a:solidFill>
            <a:schemeClr val="bg1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9" name="Text 7"/>
          <p:cNvSpPr/>
          <p:nvPr/>
        </p:nvSpPr>
        <p:spPr>
          <a:xfrm>
            <a:off x="609600" y="1950720"/>
            <a:ext cx="10972800" cy="34137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when_example.yml</a:t>
            </a:r>
            <a:endParaRPr lang="en-US" sz="1333" dirty="0"/>
          </a:p>
        </p:txBody>
      </p:sp>
      <p:sp>
        <p:nvSpPr>
          <p:cNvPr id="10" name="Text 8"/>
          <p:cNvSpPr/>
          <p:nvPr/>
        </p:nvSpPr>
        <p:spPr>
          <a:xfrm>
            <a:off x="609600" y="2353056"/>
            <a:ext cx="10972800" cy="14020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Show hello world output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debug: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msg: "Hello World Output: {{ hello_world_output.stdout }}"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when: hello_world_output is defined          # guard 1: variable exists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and hello_world_output.stdout is defined  # guard 2: stdout exists</a:t>
            </a:r>
            <a:endParaRPr lang="en-US" sz="1467" dirty="0"/>
          </a:p>
        </p:txBody>
      </p:sp>
      <p:sp>
        <p:nvSpPr>
          <p:cNvPr id="11" name="Text 9"/>
          <p:cNvSpPr/>
          <p:nvPr/>
        </p:nvSpPr>
        <p:spPr>
          <a:xfrm>
            <a:off x="487680" y="4023360"/>
            <a:ext cx="11216640" cy="46329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en-US" sz="1867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when: patterns</a:t>
            </a:r>
            <a:endParaRPr lang="en-US" sz="1867" dirty="0"/>
          </a:p>
        </p:txBody>
      </p:sp>
      <p:sp>
        <p:nvSpPr>
          <p:cNvPr id="12" name="Shape 10"/>
          <p:cNvSpPr/>
          <p:nvPr/>
        </p:nvSpPr>
        <p:spPr>
          <a:xfrm>
            <a:off x="426720" y="4572000"/>
            <a:ext cx="11338560" cy="402336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3" name="Text 11"/>
          <p:cNvSpPr/>
          <p:nvPr/>
        </p:nvSpPr>
        <p:spPr>
          <a:xfrm>
            <a:off x="609600" y="4572000"/>
            <a:ext cx="487680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 is defined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5608320" y="4572000"/>
            <a:ext cx="585216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Only run if the variable was registered/set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426720" y="5023104"/>
            <a:ext cx="11338560" cy="402336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6" name="Text 14"/>
          <p:cNvSpPr/>
          <p:nvPr/>
        </p:nvSpPr>
        <p:spPr>
          <a:xfrm>
            <a:off x="609600" y="5023104"/>
            <a:ext cx="487680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variable.rc == 0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5608320" y="5023104"/>
            <a:ext cx="585216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Only run if the previous command succeeded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426720" y="5474208"/>
            <a:ext cx="11338560" cy="402336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9" name="Text 17"/>
          <p:cNvSpPr/>
          <p:nvPr/>
        </p:nvSpPr>
        <p:spPr>
          <a:xfrm>
            <a:off x="609600" y="5474208"/>
            <a:ext cx="487680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ansible_os_family == "Debian"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5608320" y="5474208"/>
            <a:ext cx="585216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Target only Debian/Ubuntu machines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426720" y="5925312"/>
            <a:ext cx="11338560" cy="402336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22" name="Text 20"/>
          <p:cNvSpPr/>
          <p:nvPr/>
        </p:nvSpPr>
        <p:spPr>
          <a:xfrm>
            <a:off x="609600" y="5925312"/>
            <a:ext cx="487680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not variable.failed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5608320" y="5925312"/>
            <a:ext cx="585216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Only proceed if the previous task didn't fail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426720" y="6376416"/>
            <a:ext cx="11338560" cy="402336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25" name="Text 23"/>
          <p:cNvSpPr/>
          <p:nvPr/>
        </p:nvSpPr>
        <p:spPr>
          <a:xfrm>
            <a:off x="609600" y="6376416"/>
            <a:ext cx="487680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variable.stdout | length &gt; 0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5608320" y="6376416"/>
            <a:ext cx="585216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Only run if there was any output</a:t>
            </a:r>
            <a:endParaRPr lang="en-US" sz="1467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chemeClr val="bg1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4" name="Text 2"/>
          <p:cNvSpPr/>
          <p:nvPr/>
        </p:nvSpPr>
        <p:spPr>
          <a:xfrm>
            <a:off x="426720" y="0"/>
            <a:ext cx="11765280" cy="1036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4000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Error Handling — ignore_errors &amp; failed_when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0728960" y="6339840"/>
            <a:ext cx="109728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algn="r"/>
            <a:r>
              <a:rPr lang="en-US" sz="1333" dirty="0"/>
              <a:t>10 / 12</a:t>
            </a: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6705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By default, Ansible STOPS a playbook when any task fails.</a:t>
            </a:r>
            <a:endParaRPr lang="en-US" sz="1733" dirty="0"/>
          </a:p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 control this with ignore_errors and failed_when.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548640" y="2133600"/>
            <a:ext cx="5303520" cy="51206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ignore_errors</a:t>
            </a:r>
            <a:endParaRPr lang="en-US" sz="1867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303520" cy="1402080"/>
          </a:xfrm>
          <a:prstGeom prst="rect">
            <a:avLst/>
          </a:prstGeom>
          <a:solidFill>
            <a:schemeClr val="bg1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303520" cy="365760"/>
          </a:xfrm>
          <a:prstGeom prst="rect">
            <a:avLst/>
          </a:prstGeom>
          <a:solidFill>
            <a:schemeClr val="bg1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2" name="Text 10"/>
          <p:cNvSpPr/>
          <p:nvPr/>
        </p:nvSpPr>
        <p:spPr>
          <a:xfrm>
            <a:off x="731520" y="3169920"/>
            <a:ext cx="4937760" cy="8534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Run optional check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command: some_optional_cmd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register: result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ignore_errors: yes  # &lt;- keep going!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548640" y="4242816"/>
            <a:ext cx="5303520" cy="20116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ignore_errors: no  </a:t>
            </a:r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(default) — stop the playbook on failure.
</a:t>
            </a:r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ignore_errors: yes </a:t>
            </a:r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— continue even if this task fails.
</a:t>
            </a:r>
            <a:r>
              <a:rPr lang="en-US" sz="1467" b="1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yes sparingly</a:t>
            </a:r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— only for genuinely optional steps where failure is expected and acceptable.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6339840" y="2133600"/>
            <a:ext cx="5303520" cy="51206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failed_when</a:t>
            </a:r>
            <a:endParaRPr lang="en-US" sz="1867" dirty="0"/>
          </a:p>
        </p:txBody>
      </p:sp>
      <p:sp>
        <p:nvSpPr>
          <p:cNvPr id="17" name="Shape 15"/>
          <p:cNvSpPr/>
          <p:nvPr/>
        </p:nvSpPr>
        <p:spPr>
          <a:xfrm>
            <a:off x="6339840" y="2743200"/>
            <a:ext cx="5303520" cy="2011680"/>
          </a:xfrm>
          <a:prstGeom prst="rect">
            <a:avLst/>
          </a:prstGeom>
          <a:solidFill>
            <a:schemeClr val="bg1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8" name="Shape 16"/>
          <p:cNvSpPr/>
          <p:nvPr/>
        </p:nvSpPr>
        <p:spPr>
          <a:xfrm>
            <a:off x="6339840" y="2743200"/>
            <a:ext cx="5303520" cy="365760"/>
          </a:xfrm>
          <a:prstGeom prst="rect">
            <a:avLst/>
          </a:prstGeom>
          <a:solidFill>
            <a:schemeClr val="bg1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9" name="Text 17"/>
          <p:cNvSpPr/>
          <p:nvPr/>
        </p:nvSpPr>
        <p:spPr>
          <a:xfrm>
            <a:off x="6522720" y="3169920"/>
            <a:ext cx="4937760" cy="10972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Run check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command: check_service.sh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register: result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failed_when: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- result.rc != 0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  - '"error" in result.stdout'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6339840" y="4486656"/>
            <a:ext cx="5303520" cy="176784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failed_when </a:t>
            </a:r>
            <a:r>
              <a:rPr lang="en-US" sz="1467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lets you define exactly what counts as failure — based on return code, output text, or any condition.
</a:t>
            </a:r>
            <a:r>
              <a:rPr lang="en-US" sz="1467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when the tool doesn't return standard exit codes.</a:t>
            </a:r>
            <a:endParaRPr lang="en-US" sz="1467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36320"/>
          </a:xfrm>
          <a:prstGeom prst="rect">
            <a:avLst/>
          </a:prstGeom>
          <a:solidFill>
            <a:schemeClr val="bg1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4" name="Text 2"/>
          <p:cNvSpPr/>
          <p:nvPr/>
        </p:nvSpPr>
        <p:spPr>
          <a:xfrm>
            <a:off x="426720" y="0"/>
            <a:ext cx="10972800" cy="103632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3600" b="1" dirty="0">
                <a:ea typeface="Trebuchet MS" pitchFamily="34" charset="-122"/>
                <a:cs typeface="Trebuchet MS" pitchFamily="34" charset="-120"/>
              </a:rPr>
              <a:t>Testing &amp; Verification — Never Assume Success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0728960" y="6339840"/>
            <a:ext cx="109728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pPr algn="r"/>
            <a:r>
              <a:rPr lang="en-US" sz="1333" dirty="0"/>
              <a:t>11 / 12</a:t>
            </a:r>
          </a:p>
        </p:txBody>
      </p:sp>
      <p:sp>
        <p:nvSpPr>
          <p:cNvPr id="6" name="Text 4"/>
          <p:cNvSpPr/>
          <p:nvPr/>
        </p:nvSpPr>
        <p:spPr>
          <a:xfrm>
            <a:off x="487680" y="1280160"/>
            <a:ext cx="11216640" cy="4876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rtlCol="0" anchor="ctr"/>
          <a:lstStyle/>
          <a:p>
            <a:r>
              <a:rPr lang="en-US" sz="17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your installation worked. The playbook uses two checks for Docker:</a:t>
            </a:r>
            <a:endParaRPr lang="en-US" sz="1733" dirty="0"/>
          </a:p>
        </p:txBody>
      </p:sp>
      <p:sp>
        <p:nvSpPr>
          <p:cNvPr id="9" name="Text 7"/>
          <p:cNvSpPr/>
          <p:nvPr/>
        </p:nvSpPr>
        <p:spPr>
          <a:xfrm>
            <a:off x="670560" y="1962912"/>
            <a:ext cx="499872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1 — Check Version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548640" y="2450592"/>
            <a:ext cx="5425440" cy="1341120"/>
          </a:xfrm>
          <a:prstGeom prst="rect">
            <a:avLst/>
          </a:prstGeom>
          <a:solidFill>
            <a:schemeClr val="bg1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1" name="Shape 9"/>
          <p:cNvSpPr/>
          <p:nvPr/>
        </p:nvSpPr>
        <p:spPr>
          <a:xfrm>
            <a:off x="548640" y="2450592"/>
            <a:ext cx="5425440" cy="365760"/>
          </a:xfrm>
          <a:prstGeom prst="rect">
            <a:avLst/>
          </a:prstGeom>
          <a:solidFill>
            <a:schemeClr val="bg1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2" name="Text 10"/>
          <p:cNvSpPr/>
          <p:nvPr/>
        </p:nvSpPr>
        <p:spPr>
          <a:xfrm>
            <a:off x="731520" y="2877312"/>
            <a:ext cx="5059680" cy="792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Check Docker version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command: docker --version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register: docker_version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ignore_errors: no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6217920" y="1889760"/>
            <a:ext cx="5547360" cy="2292096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15" name="Text 13"/>
          <p:cNvSpPr/>
          <p:nvPr/>
        </p:nvSpPr>
        <p:spPr>
          <a:xfrm>
            <a:off x="6400800" y="2011680"/>
            <a:ext cx="512064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400800" y="2450592"/>
            <a:ext cx="5120640" cy="160934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Confirms the Docker binary is installed and in the system PATH.</a:t>
            </a:r>
            <a:endParaRPr lang="en-US" sz="1533" dirty="0"/>
          </a:p>
          <a:p>
            <a:endParaRPr lang="en-US" sz="1533" dirty="0"/>
          </a:p>
          <a:p>
            <a:r>
              <a:rPr lang="en-US" sz="15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If this task fails, the installation itself failed — investigate before proceeding.</a:t>
            </a:r>
            <a:endParaRPr lang="en-US" sz="1533" dirty="0"/>
          </a:p>
          <a:p>
            <a:endParaRPr lang="en-US" sz="1533" dirty="0"/>
          </a:p>
          <a:p>
            <a:r>
              <a:rPr lang="en-US" sz="15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Use register: to capture the output, then display it with debug: and {{ docker_version.stdout }}.</a:t>
            </a:r>
            <a:endParaRPr lang="en-US" sz="1533" dirty="0"/>
          </a:p>
        </p:txBody>
      </p:sp>
      <p:sp>
        <p:nvSpPr>
          <p:cNvPr id="19" name="Text 17"/>
          <p:cNvSpPr/>
          <p:nvPr/>
        </p:nvSpPr>
        <p:spPr>
          <a:xfrm>
            <a:off x="670560" y="4462272"/>
            <a:ext cx="4998720" cy="402336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2 — Hello World Container</a:t>
            </a:r>
            <a:endParaRPr lang="en-US" sz="1733" dirty="0"/>
          </a:p>
        </p:txBody>
      </p:sp>
      <p:sp>
        <p:nvSpPr>
          <p:cNvPr id="20" name="Shape 18"/>
          <p:cNvSpPr/>
          <p:nvPr/>
        </p:nvSpPr>
        <p:spPr>
          <a:xfrm>
            <a:off x="548640" y="4949952"/>
            <a:ext cx="5425440" cy="1341120"/>
          </a:xfrm>
          <a:prstGeom prst="rect">
            <a:avLst/>
          </a:prstGeom>
          <a:solidFill>
            <a:schemeClr val="bg1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21" name="Shape 19"/>
          <p:cNvSpPr/>
          <p:nvPr/>
        </p:nvSpPr>
        <p:spPr>
          <a:xfrm>
            <a:off x="548640" y="4949952"/>
            <a:ext cx="5425440" cy="365760"/>
          </a:xfrm>
          <a:prstGeom prst="rect">
            <a:avLst/>
          </a:prstGeom>
          <a:solidFill>
            <a:schemeClr val="bg1"/>
          </a:solidFill>
          <a:ln w="12700">
            <a:solidFill>
              <a:srgbClr val="161B22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22" name="Text 20"/>
          <p:cNvSpPr/>
          <p:nvPr/>
        </p:nvSpPr>
        <p:spPr>
          <a:xfrm>
            <a:off x="731520" y="5376672"/>
            <a:ext cx="5059680" cy="79248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t"/>
          <a:lstStyle/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- name: Run hello-world container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command: docker run hello-world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register: hw_output</a:t>
            </a:r>
            <a:endParaRPr lang="en-US" sz="1467" dirty="0"/>
          </a:p>
          <a:p>
            <a:r>
              <a:rPr lang="en-US" sz="1467" dirty="0">
                <a:latin typeface="Consolas" pitchFamily="34" charset="0"/>
                <a:ea typeface="Consolas" pitchFamily="34" charset="-122"/>
                <a:cs typeface="Consolas" pitchFamily="34" charset="-120"/>
              </a:rPr>
              <a:t>  ignore_errors: no</a:t>
            </a:r>
            <a:endParaRPr lang="en-US" sz="1467" dirty="0"/>
          </a:p>
        </p:txBody>
      </p:sp>
      <p:sp>
        <p:nvSpPr>
          <p:cNvPr id="23" name="Shape 21"/>
          <p:cNvSpPr/>
          <p:nvPr/>
        </p:nvSpPr>
        <p:spPr>
          <a:xfrm>
            <a:off x="6217920" y="4389120"/>
            <a:ext cx="5547360" cy="2292096"/>
          </a:xfrm>
          <a:prstGeom prst="rect">
            <a:avLst/>
          </a:prstGeom>
          <a:solidFill>
            <a:schemeClr val="bg1"/>
          </a:solidFill>
          <a:ln w="12700">
            <a:solidFill>
              <a:srgbClr val="112240"/>
            </a:solidFill>
            <a:prstDash val="solid"/>
          </a:ln>
        </p:spPr>
        <p:txBody>
          <a:bodyPr/>
          <a:lstStyle/>
          <a:p>
            <a:endParaRPr lang="en-KE" sz="2400"/>
          </a:p>
        </p:txBody>
      </p:sp>
      <p:sp>
        <p:nvSpPr>
          <p:cNvPr id="25" name="Text 23"/>
          <p:cNvSpPr/>
          <p:nvPr/>
        </p:nvSpPr>
        <p:spPr>
          <a:xfrm>
            <a:off x="6400800" y="4511040"/>
            <a:ext cx="5120640" cy="365760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400800" y="4949952"/>
            <a:ext cx="5120640" cy="1609344"/>
          </a:xfrm>
          <a:prstGeom prst="rect">
            <a:avLst/>
          </a:prstGeom>
          <a:solidFill>
            <a:schemeClr val="bg1"/>
          </a:solidFill>
          <a:ln/>
        </p:spPr>
        <p:txBody>
          <a:bodyPr wrap="square" lIns="0" tIns="0" rIns="0" bIns="0" rtlCol="0" anchor="ctr"/>
          <a:lstStyle/>
          <a:p>
            <a:r>
              <a:rPr lang="en-US" sz="1533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Full end-to-end test: proves the Docker daemon is running, Docker can pull an image from the internet, and can execute a container successfully.</a:t>
            </a:r>
            <a:endParaRPr lang="en-US" sz="153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3BFF7-CC86-3B71-65AA-551889834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b="1" dirty="0">
                <a:latin typeface="+mn-lt"/>
              </a:rPr>
              <a:t>More Advanced Playbooks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B8573-FD60-5F56-A699-0CF048872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E" dirty="0"/>
              <a:t>The playbook in  </a:t>
            </a:r>
            <a:r>
              <a:rPr lang="en-GB" dirty="0">
                <a:hlinkClick r:id="rId2"/>
              </a:rPr>
              <a:t>https://github.com/HumpreyDev/Strathmore-University-Summer-School-on-Digital-Technologies/tree/main</a:t>
            </a:r>
            <a:r>
              <a:rPr lang="en-GB" dirty="0"/>
              <a:t>    </a:t>
            </a:r>
            <a:r>
              <a:rPr lang="en-GB" dirty="0">
                <a:sym typeface="Wingdings" pitchFamily="2" charset="2"/>
              </a:rPr>
              <a:t> Go to Labs</a:t>
            </a:r>
          </a:p>
          <a:p>
            <a:r>
              <a:rPr lang="en-GB" dirty="0">
                <a:sym typeface="Wingdings" pitchFamily="2" charset="2"/>
              </a:rPr>
              <a:t> Lab 3.2 MicroK8s Setup Directory </a:t>
            </a:r>
          </a:p>
          <a:p>
            <a:r>
              <a:rPr lang="en-GB" dirty="0">
                <a:sym typeface="Wingdings" pitchFamily="2" charset="2"/>
              </a:rPr>
              <a:t>Lab 3.3 Helm Setup Directory </a:t>
            </a:r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22904393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5D2F85-828F-4A6E-D78D-34BFFDC9A5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KE" b="1" dirty="0">
                <a:latin typeface="+mn-lt"/>
              </a:rPr>
              <a:t>Bonus Task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CEA5FD-20DF-427B-6C4D-D589AE1A4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KE" dirty="0"/>
              <a:t>Write clean-up ansible scripts for all the Labs in the summer-school repository </a:t>
            </a:r>
          </a:p>
          <a:p>
            <a:r>
              <a:rPr lang="en-KE" dirty="0"/>
              <a:t>This cleanup involves </a:t>
            </a:r>
            <a:r>
              <a:rPr lang="en-GB" dirty="0"/>
              <a:t>removing installed packages and resetting  configs</a:t>
            </a:r>
          </a:p>
          <a:p>
            <a:r>
              <a:rPr lang="en-GB" dirty="0"/>
              <a:t>This task will be done in Groups </a:t>
            </a:r>
            <a:endParaRPr lang="en-KE" dirty="0"/>
          </a:p>
          <a:p>
            <a:endParaRPr lang="en-KE" dirty="0"/>
          </a:p>
          <a:p>
            <a:endParaRPr lang="en-KE" dirty="0"/>
          </a:p>
        </p:txBody>
      </p:sp>
    </p:spTree>
    <p:extLst>
      <p:ext uri="{BB962C8B-B14F-4D97-AF65-F5344CB8AC3E}">
        <p14:creationId xmlns:p14="http://schemas.microsoft.com/office/powerpoint/2010/main" val="4059615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2249</TotalTime>
  <Words>2439</Words>
  <Application>Microsoft Macintosh PowerPoint</Application>
  <PresentationFormat>Widescreen</PresentationFormat>
  <Paragraphs>276</Paragraphs>
  <Slides>24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Consolas</vt:lpstr>
      <vt:lpstr>Trebuchet MS</vt:lpstr>
      <vt:lpstr>Wingdings</vt:lpstr>
      <vt:lpstr>Office 2013 - 2022 Theme</vt:lpstr>
      <vt:lpstr>DIGITAfrica: Summer School on Digital Technologies </vt:lpstr>
      <vt:lpstr>Ansible Intro </vt:lpstr>
      <vt:lpstr>Why Ansible? </vt:lpstr>
      <vt:lpstr>How Ansible Works </vt:lpstr>
      <vt:lpstr>How Ansible Works. Example Task </vt:lpstr>
      <vt:lpstr>Up and Running with Ansible: What you need to do</vt:lpstr>
      <vt:lpstr>Lab 1:Install and Get Started</vt:lpstr>
      <vt:lpstr>Ansible Projects</vt:lpstr>
      <vt:lpstr>Ansible Playbook </vt:lpstr>
      <vt:lpstr>Basic Syntax rules when working with YAML and Ansible </vt:lpstr>
      <vt:lpstr>A more complex playbook </vt:lpstr>
      <vt:lpstr>Ansible Projects File Structure </vt:lpstr>
      <vt:lpstr>A more complex playbook v2  </vt:lpstr>
      <vt:lpstr>Another way of organizing Ansible Projects File Structure </vt:lpstr>
      <vt:lpstr>Ansible Modules Used in This Playbook: Ref Github: Lab 3.1 </vt:lpstr>
      <vt:lpstr>Package Management with the apt Module </vt:lpstr>
      <vt:lpstr>Adding External Repositories — The Docker Example </vt:lpstr>
      <vt:lpstr>Capturing Output with register: </vt:lpstr>
      <vt:lpstr>Jinja2 Templating — Dynamic Values in Playbooks </vt:lpstr>
      <vt:lpstr>PowerPoint Presentation</vt:lpstr>
      <vt:lpstr>PowerPoint Presentation</vt:lpstr>
      <vt:lpstr>PowerPoint Presentation</vt:lpstr>
      <vt:lpstr>More Advanced Playbooks </vt:lpstr>
      <vt:lpstr>Bonus Task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Humphrey Otieno</dc:creator>
  <cp:lastModifiedBy>Humphrey Otieno</cp:lastModifiedBy>
  <cp:revision>61</cp:revision>
  <dcterms:created xsi:type="dcterms:W3CDTF">2026-03-21T16:17:35Z</dcterms:created>
  <dcterms:modified xsi:type="dcterms:W3CDTF">2026-03-23T05:47:02Z</dcterms:modified>
</cp:coreProperties>
</file>